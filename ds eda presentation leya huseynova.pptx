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Archivo Black" charset="1" panose="020B0A03020202020B04"/>
      <p:regular r:id="rId21"/>
    </p:embeddedFont>
    <p:embeddedFont>
      <p:font typeface="Garet Bold" charset="1" panose="00000000000000000000"/>
      <p:regular r:id="rId22"/>
    </p:embeddedFont>
    <p:embeddedFont>
      <p:font typeface="Garet" charset="1" panose="00000000000000000000"/>
      <p:regular r:id="rId23"/>
    </p:embeddedFont>
    <p:embeddedFont>
      <p:font typeface="Garet Light" charset="1" panose="00000000000000000000"/>
      <p:regular r:id="rId24"/>
    </p:embeddedFont>
    <p:embeddedFont>
      <p:font typeface="Canva Sans" charset="1" panose="020B0503030501040103"/>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jpeg" Type="http://schemas.openxmlformats.org/officeDocument/2006/relationships/image"/><Relationship Id="rId4" Target="../media/image29.jpeg" Type="http://schemas.openxmlformats.org/officeDocument/2006/relationships/image"/><Relationship Id="rId5" Target="../media/image30.jpeg" Type="http://schemas.openxmlformats.org/officeDocument/2006/relationships/image"/><Relationship Id="rId6" Target="../media/image31.jpe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028700" y="1028700"/>
            <a:ext cx="940001" cy="834037"/>
          </a:xfrm>
          <a:custGeom>
            <a:avLst/>
            <a:gdLst/>
            <a:ahLst/>
            <a:cxnLst/>
            <a:rect r="r" b="b" t="t" l="l"/>
            <a:pathLst>
              <a:path h="834037" w="940001">
                <a:moveTo>
                  <a:pt x="0" y="0"/>
                </a:moveTo>
                <a:lnTo>
                  <a:pt x="940001" y="0"/>
                </a:lnTo>
                <a:lnTo>
                  <a:pt x="940001" y="834037"/>
                </a:lnTo>
                <a:lnTo>
                  <a:pt x="0" y="8340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711748" y="3466834"/>
            <a:ext cx="11922536" cy="3715281"/>
          </a:xfrm>
          <a:prstGeom prst="rect">
            <a:avLst/>
          </a:prstGeom>
        </p:spPr>
        <p:txBody>
          <a:bodyPr anchor="t" rtlCol="false" tIns="0" lIns="0" bIns="0" rIns="0">
            <a:spAutoFit/>
          </a:bodyPr>
          <a:lstStyle/>
          <a:p>
            <a:pPr algn="ctr" marL="0" indent="0" lvl="0">
              <a:lnSpc>
                <a:spcPts val="7337"/>
              </a:lnSpc>
              <a:spcBef>
                <a:spcPct val="0"/>
              </a:spcBef>
            </a:pPr>
            <a:r>
              <a:rPr lang="en-US" sz="9406" spc="-743">
                <a:solidFill>
                  <a:srgbClr val="000000"/>
                </a:solidFill>
                <a:latin typeface="Archivo Black"/>
                <a:ea typeface="Archivo Black"/>
                <a:cs typeface="Archivo Black"/>
                <a:sym typeface="Archivo Black"/>
              </a:rPr>
              <a:t>KING C</a:t>
            </a:r>
            <a:r>
              <a:rPr lang="en-US" sz="9406" spc="-743" u="none">
                <a:solidFill>
                  <a:srgbClr val="000000"/>
                </a:solidFill>
                <a:latin typeface="Archivo Black"/>
                <a:ea typeface="Archivo Black"/>
                <a:cs typeface="Archivo Black"/>
                <a:sym typeface="Archivo Black"/>
              </a:rPr>
              <a:t>OUNTY HOUSING ANALYSIS </a:t>
            </a:r>
          </a:p>
          <a:p>
            <a:pPr algn="ctr" marL="0" indent="0" lvl="0">
              <a:lnSpc>
                <a:spcPts val="6473"/>
              </a:lnSpc>
              <a:spcBef>
                <a:spcPct val="0"/>
              </a:spcBef>
            </a:pPr>
          </a:p>
        </p:txBody>
      </p:sp>
      <p:sp>
        <p:nvSpPr>
          <p:cNvPr name="Freeform 5" id="5"/>
          <p:cNvSpPr/>
          <p:nvPr/>
        </p:nvSpPr>
        <p:spPr>
          <a:xfrm flipH="false" flipV="false" rot="0">
            <a:off x="13893204" y="7886121"/>
            <a:ext cx="3827616" cy="1497555"/>
          </a:xfrm>
          <a:custGeom>
            <a:avLst/>
            <a:gdLst/>
            <a:ahLst/>
            <a:cxnLst/>
            <a:rect r="r" b="b" t="t" l="l"/>
            <a:pathLst>
              <a:path h="1497555" w="3827616">
                <a:moveTo>
                  <a:pt x="0" y="0"/>
                </a:moveTo>
                <a:lnTo>
                  <a:pt x="3827616" y="0"/>
                </a:lnTo>
                <a:lnTo>
                  <a:pt x="3827616" y="1497554"/>
                </a:lnTo>
                <a:lnTo>
                  <a:pt x="0" y="14975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028700" y="8525563"/>
            <a:ext cx="3366096" cy="291465"/>
          </a:xfrm>
          <a:prstGeom prst="rect">
            <a:avLst/>
          </a:prstGeom>
        </p:spPr>
        <p:txBody>
          <a:bodyPr anchor="t" rtlCol="false" tIns="0" lIns="0" bIns="0" rIns="0">
            <a:spAutoFit/>
          </a:bodyPr>
          <a:lstStyle/>
          <a:p>
            <a:pPr algn="l" marL="0" indent="0" lvl="0">
              <a:lnSpc>
                <a:spcPts val="2339"/>
              </a:lnSpc>
              <a:spcBef>
                <a:spcPct val="0"/>
              </a:spcBef>
            </a:pPr>
            <a:r>
              <a:rPr lang="en-US" b="true" sz="1799">
                <a:solidFill>
                  <a:srgbClr val="2B2B2B"/>
                </a:solidFill>
                <a:latin typeface="Garet Bold"/>
                <a:ea typeface="Garet Bold"/>
                <a:cs typeface="Garet Bold"/>
                <a:sym typeface="Garet Bold"/>
              </a:rPr>
              <a:t>NAME OF PROJECT:</a:t>
            </a:r>
          </a:p>
        </p:txBody>
      </p:sp>
      <p:sp>
        <p:nvSpPr>
          <p:cNvPr name="TextBox 7" id="7"/>
          <p:cNvSpPr txBox="true"/>
          <p:nvPr/>
        </p:nvSpPr>
        <p:spPr>
          <a:xfrm rot="0">
            <a:off x="1028700" y="8947201"/>
            <a:ext cx="3366096" cy="291465"/>
          </a:xfrm>
          <a:prstGeom prst="rect">
            <a:avLst/>
          </a:prstGeom>
        </p:spPr>
        <p:txBody>
          <a:bodyPr anchor="t" rtlCol="false" tIns="0" lIns="0" bIns="0" rIns="0">
            <a:spAutoFit/>
          </a:bodyPr>
          <a:lstStyle/>
          <a:p>
            <a:pPr algn="l" marL="0" indent="0" lvl="0">
              <a:lnSpc>
                <a:spcPts val="2339"/>
              </a:lnSpc>
              <a:spcBef>
                <a:spcPct val="0"/>
              </a:spcBef>
            </a:pPr>
            <a:r>
              <a:rPr lang="en-US" sz="1799">
                <a:solidFill>
                  <a:srgbClr val="2B2B2B"/>
                </a:solidFill>
                <a:latin typeface="Garet"/>
                <a:ea typeface="Garet"/>
                <a:cs typeface="Garet"/>
                <a:sym typeface="Garet"/>
              </a:rPr>
              <a:t>Data Science EDA Project</a:t>
            </a:r>
          </a:p>
        </p:txBody>
      </p:sp>
      <p:sp>
        <p:nvSpPr>
          <p:cNvPr name="TextBox 8" id="8"/>
          <p:cNvSpPr txBox="true"/>
          <p:nvPr/>
        </p:nvSpPr>
        <p:spPr>
          <a:xfrm rot="0">
            <a:off x="4664341" y="8525563"/>
            <a:ext cx="3366096" cy="291465"/>
          </a:xfrm>
          <a:prstGeom prst="rect">
            <a:avLst/>
          </a:prstGeom>
        </p:spPr>
        <p:txBody>
          <a:bodyPr anchor="t" rtlCol="false" tIns="0" lIns="0" bIns="0" rIns="0">
            <a:spAutoFit/>
          </a:bodyPr>
          <a:lstStyle/>
          <a:p>
            <a:pPr algn="l" marL="0" indent="0" lvl="0">
              <a:lnSpc>
                <a:spcPts val="2339"/>
              </a:lnSpc>
              <a:spcBef>
                <a:spcPct val="0"/>
              </a:spcBef>
            </a:pPr>
            <a:r>
              <a:rPr lang="en-US" b="true" sz="1799">
                <a:solidFill>
                  <a:srgbClr val="2B2B2B"/>
                </a:solidFill>
                <a:latin typeface="Garet Bold"/>
                <a:ea typeface="Garet Bold"/>
                <a:cs typeface="Garet Bold"/>
                <a:sym typeface="Garet Bold"/>
              </a:rPr>
              <a:t>PRESENTED BY:</a:t>
            </a:r>
          </a:p>
        </p:txBody>
      </p:sp>
      <p:sp>
        <p:nvSpPr>
          <p:cNvPr name="TextBox 9" id="9"/>
          <p:cNvSpPr txBox="true"/>
          <p:nvPr/>
        </p:nvSpPr>
        <p:spPr>
          <a:xfrm rot="0">
            <a:off x="4664341" y="8911641"/>
            <a:ext cx="3366096" cy="291465"/>
          </a:xfrm>
          <a:prstGeom prst="rect">
            <a:avLst/>
          </a:prstGeom>
        </p:spPr>
        <p:txBody>
          <a:bodyPr anchor="t" rtlCol="false" tIns="0" lIns="0" bIns="0" rIns="0">
            <a:spAutoFit/>
          </a:bodyPr>
          <a:lstStyle/>
          <a:p>
            <a:pPr algn="l" marL="0" indent="0" lvl="0">
              <a:lnSpc>
                <a:spcPts val="2339"/>
              </a:lnSpc>
              <a:spcBef>
                <a:spcPct val="0"/>
              </a:spcBef>
            </a:pPr>
            <a:r>
              <a:rPr lang="en-US" sz="1799">
                <a:solidFill>
                  <a:srgbClr val="2B2B2B"/>
                </a:solidFill>
                <a:latin typeface="Garet"/>
                <a:ea typeface="Garet"/>
                <a:cs typeface="Garet"/>
                <a:sym typeface="Garet"/>
              </a:rPr>
              <a:t>Leya Huseynova </a:t>
            </a:r>
          </a:p>
        </p:txBody>
      </p:sp>
      <p:sp>
        <p:nvSpPr>
          <p:cNvPr name="TextBox 10" id="10"/>
          <p:cNvSpPr txBox="true"/>
          <p:nvPr/>
        </p:nvSpPr>
        <p:spPr>
          <a:xfrm rot="0">
            <a:off x="7885470" y="8525563"/>
            <a:ext cx="3366096" cy="291465"/>
          </a:xfrm>
          <a:prstGeom prst="rect">
            <a:avLst/>
          </a:prstGeom>
        </p:spPr>
        <p:txBody>
          <a:bodyPr anchor="t" rtlCol="false" tIns="0" lIns="0" bIns="0" rIns="0">
            <a:spAutoFit/>
          </a:bodyPr>
          <a:lstStyle/>
          <a:p>
            <a:pPr algn="l" marL="0" indent="0" lvl="0">
              <a:lnSpc>
                <a:spcPts val="2339"/>
              </a:lnSpc>
              <a:spcBef>
                <a:spcPct val="0"/>
              </a:spcBef>
            </a:pPr>
            <a:r>
              <a:rPr lang="en-US" b="true" sz="1799">
                <a:solidFill>
                  <a:srgbClr val="2B2B2B"/>
                </a:solidFill>
                <a:latin typeface="Garet Bold"/>
                <a:ea typeface="Garet Bold"/>
                <a:cs typeface="Garet Bold"/>
                <a:sym typeface="Garet Bold"/>
              </a:rPr>
              <a:t>PRESENTED TO:</a:t>
            </a:r>
          </a:p>
        </p:txBody>
      </p:sp>
      <p:sp>
        <p:nvSpPr>
          <p:cNvPr name="TextBox 11" id="11"/>
          <p:cNvSpPr txBox="true"/>
          <p:nvPr/>
        </p:nvSpPr>
        <p:spPr>
          <a:xfrm rot="0">
            <a:off x="7885470" y="8911641"/>
            <a:ext cx="3366096" cy="291465"/>
          </a:xfrm>
          <a:prstGeom prst="rect">
            <a:avLst/>
          </a:prstGeom>
        </p:spPr>
        <p:txBody>
          <a:bodyPr anchor="t" rtlCol="false" tIns="0" lIns="0" bIns="0" rIns="0">
            <a:spAutoFit/>
          </a:bodyPr>
          <a:lstStyle/>
          <a:p>
            <a:pPr algn="l" marL="0" indent="0" lvl="0">
              <a:lnSpc>
                <a:spcPts val="2339"/>
              </a:lnSpc>
              <a:spcBef>
                <a:spcPct val="0"/>
              </a:spcBef>
            </a:pPr>
            <a:r>
              <a:rPr lang="en-US" sz="1799">
                <a:solidFill>
                  <a:srgbClr val="2B2B2B"/>
                </a:solidFill>
                <a:latin typeface="Garet"/>
                <a:ea typeface="Garet"/>
                <a:cs typeface="Garet"/>
                <a:sym typeface="Garet"/>
              </a:rPr>
              <a:t>DS &amp; AI Group</a:t>
            </a:r>
          </a:p>
        </p:txBody>
      </p:sp>
      <p:sp>
        <p:nvSpPr>
          <p:cNvPr name="TextBox 12" id="12"/>
          <p:cNvSpPr txBox="true"/>
          <p:nvPr/>
        </p:nvSpPr>
        <p:spPr>
          <a:xfrm rot="0">
            <a:off x="2117520" y="886107"/>
            <a:ext cx="4321082" cy="976630"/>
          </a:xfrm>
          <a:prstGeom prst="rect">
            <a:avLst/>
          </a:prstGeom>
        </p:spPr>
        <p:txBody>
          <a:bodyPr anchor="t" rtlCol="false" tIns="0" lIns="0" bIns="0" rIns="0">
            <a:spAutoFit/>
          </a:bodyPr>
          <a:lstStyle/>
          <a:p>
            <a:pPr algn="l">
              <a:lnSpc>
                <a:spcPts val="3919"/>
              </a:lnSpc>
            </a:pPr>
            <a:r>
              <a:rPr lang="en-US" sz="2799">
                <a:solidFill>
                  <a:srgbClr val="545454"/>
                </a:solidFill>
                <a:latin typeface="Garet Light"/>
                <a:ea typeface="Garet Light"/>
                <a:cs typeface="Garet Light"/>
                <a:sym typeface="Garet Light"/>
              </a:rPr>
              <a:t>Neuefische Bootcamp</a:t>
            </a:r>
          </a:p>
          <a:p>
            <a:pPr algn="l">
              <a:lnSpc>
                <a:spcPts val="3919"/>
              </a:lnSpc>
            </a:pPr>
            <a:r>
              <a:rPr lang="en-US" sz="2799">
                <a:solidFill>
                  <a:srgbClr val="545454"/>
                </a:solidFill>
                <a:latin typeface="Garet Light"/>
                <a:ea typeface="Garet Light"/>
                <a:cs typeface="Garet Light"/>
                <a:sym typeface="Garet Light"/>
              </a:rPr>
              <a:t> 21/11/2025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aphicFrame>
        <p:nvGraphicFramePr>
          <p:cNvPr name="Table 3" id="3"/>
          <p:cNvGraphicFramePr>
            <a:graphicFrameLocks noGrp="true"/>
          </p:cNvGraphicFramePr>
          <p:nvPr/>
        </p:nvGraphicFramePr>
        <p:xfrm>
          <a:off x="9899532" y="1814512"/>
          <a:ext cx="6811245" cy="6572250"/>
        </p:xfrm>
        <a:graphic>
          <a:graphicData uri="http://schemas.openxmlformats.org/drawingml/2006/table">
            <a:tbl>
              <a:tblPr/>
              <a:tblGrid>
                <a:gridCol w="1191168"/>
                <a:gridCol w="5256595"/>
              </a:tblGrid>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01</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Overview</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02</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Goals and client’s vision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Analysis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Suggestions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Insights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06</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Team</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07</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Contacts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08</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Additional slides for Q&amp;A</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Freeform 4" id="4"/>
          <p:cNvSpPr/>
          <p:nvPr/>
        </p:nvSpPr>
        <p:spPr>
          <a:xfrm flipH="false" flipV="false" rot="0">
            <a:off x="-706637" y="1559650"/>
            <a:ext cx="9125543" cy="7167700"/>
          </a:xfrm>
          <a:custGeom>
            <a:avLst/>
            <a:gdLst/>
            <a:ahLst/>
            <a:cxnLst/>
            <a:rect r="r" b="b" t="t" l="l"/>
            <a:pathLst>
              <a:path h="7167700" w="9125543">
                <a:moveTo>
                  <a:pt x="0" y="0"/>
                </a:moveTo>
                <a:lnTo>
                  <a:pt x="9125544" y="0"/>
                </a:lnTo>
                <a:lnTo>
                  <a:pt x="9125544" y="7167700"/>
                </a:lnTo>
                <a:lnTo>
                  <a:pt x="0" y="71677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9313" y="0"/>
            <a:ext cx="3488687" cy="1198840"/>
          </a:xfrm>
          <a:custGeom>
            <a:avLst/>
            <a:gdLst/>
            <a:ahLst/>
            <a:cxnLst/>
            <a:rect r="r" b="b" t="t" l="l"/>
            <a:pathLst>
              <a:path h="1198840" w="3488687">
                <a:moveTo>
                  <a:pt x="0" y="0"/>
                </a:moveTo>
                <a:lnTo>
                  <a:pt x="3488687" y="0"/>
                </a:lnTo>
                <a:lnTo>
                  <a:pt x="3488687" y="1198840"/>
                </a:lnTo>
                <a:lnTo>
                  <a:pt x="0" y="11988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604641" y="2439692"/>
            <a:ext cx="6531462"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FFFFFF"/>
                </a:solidFill>
                <a:latin typeface="Archivo Black"/>
                <a:ea typeface="Archivo Black"/>
                <a:cs typeface="Archivo Black"/>
                <a:sym typeface="Archivo Black"/>
              </a:rPr>
              <a:t>Agenda</a:t>
            </a:r>
          </a:p>
        </p:txBody>
      </p:sp>
      <p:sp>
        <p:nvSpPr>
          <p:cNvPr name="TextBox 7" id="7"/>
          <p:cNvSpPr txBox="true"/>
          <p:nvPr/>
        </p:nvSpPr>
        <p:spPr>
          <a:xfrm rot="0">
            <a:off x="12938218" y="8892540"/>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02/14</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pSp>
        <p:nvGrpSpPr>
          <p:cNvPr name="Group 3" id="3"/>
          <p:cNvGrpSpPr/>
          <p:nvPr/>
        </p:nvGrpSpPr>
        <p:grpSpPr>
          <a:xfrm rot="0">
            <a:off x="245382" y="135539"/>
            <a:ext cx="11007040" cy="10341399"/>
            <a:chOff x="0" y="0"/>
            <a:chExt cx="14676053" cy="13788532"/>
          </a:xfrm>
        </p:grpSpPr>
        <p:pic>
          <p:nvPicPr>
            <p:cNvPr name="Picture 4" id="4"/>
            <p:cNvPicPr>
              <a:picLocks noChangeAspect="true"/>
            </p:cNvPicPr>
            <p:nvPr/>
          </p:nvPicPr>
          <p:blipFill>
            <a:blip r:embed="rId3"/>
            <a:srcRect l="14488" t="0" r="14488" b="0"/>
            <a:stretch>
              <a:fillRect/>
            </a:stretch>
          </p:blipFill>
          <p:spPr>
            <a:xfrm flipH="false" flipV="false">
              <a:off x="0" y="0"/>
              <a:ext cx="14676053" cy="13788532"/>
            </a:xfrm>
            <a:prstGeom prst="rect">
              <a:avLst/>
            </a:prstGeom>
          </p:spPr>
        </p:pic>
      </p:grpSp>
      <p:sp>
        <p:nvSpPr>
          <p:cNvPr name="TextBox 5" id="5"/>
          <p:cNvSpPr txBox="true"/>
          <p:nvPr/>
        </p:nvSpPr>
        <p:spPr>
          <a:xfrm rot="0">
            <a:off x="12506355" y="3487351"/>
            <a:ext cx="4571667" cy="6556375"/>
          </a:xfrm>
          <a:prstGeom prst="rect">
            <a:avLst/>
          </a:prstGeom>
        </p:spPr>
        <p:txBody>
          <a:bodyPr anchor="t" rtlCol="false" tIns="0" lIns="0" bIns="0" rIns="0">
            <a:spAutoFit/>
          </a:bodyPr>
          <a:lstStyle/>
          <a:p>
            <a:pPr algn="just">
              <a:lnSpc>
                <a:spcPts val="3499"/>
              </a:lnSpc>
            </a:pPr>
            <a:r>
              <a:rPr lang="en-US" sz="2499">
                <a:solidFill>
                  <a:srgbClr val="000000"/>
                </a:solidFill>
                <a:latin typeface="Garet"/>
                <a:ea typeface="Garet"/>
                <a:cs typeface="Garet"/>
                <a:sym typeface="Garet"/>
              </a:rPr>
              <a:t>This project analyzes the local housing market to help Nicole Johnson make an informed decision about purchasing one of three recommended houses. By combining location data, property characteristics, and price insights, the analysis highlights how each home compares to the broader market and why these three options stand out.</a:t>
            </a:r>
          </a:p>
          <a:p>
            <a:pPr algn="just">
              <a:lnSpc>
                <a:spcPts val="3499"/>
              </a:lnSpc>
            </a:pPr>
          </a:p>
        </p:txBody>
      </p:sp>
      <p:sp>
        <p:nvSpPr>
          <p:cNvPr name="TextBox 6" id="6"/>
          <p:cNvSpPr txBox="true"/>
          <p:nvPr/>
        </p:nvSpPr>
        <p:spPr>
          <a:xfrm rot="0">
            <a:off x="9144000" y="2360278"/>
            <a:ext cx="7203393" cy="785704"/>
          </a:xfrm>
          <a:prstGeom prst="rect">
            <a:avLst/>
          </a:prstGeom>
        </p:spPr>
        <p:txBody>
          <a:bodyPr anchor="t" rtlCol="false" tIns="0" lIns="0" bIns="0" rIns="0">
            <a:spAutoFit/>
          </a:bodyPr>
          <a:lstStyle/>
          <a:p>
            <a:pPr algn="r" marL="0" indent="0" lvl="0">
              <a:lnSpc>
                <a:spcPts val="5808"/>
              </a:lnSpc>
              <a:spcBef>
                <a:spcPct val="0"/>
              </a:spcBef>
            </a:pPr>
            <a:r>
              <a:rPr lang="en-US" sz="5808" spc="-458">
                <a:solidFill>
                  <a:srgbClr val="000000"/>
                </a:solidFill>
                <a:latin typeface="Archivo Black"/>
                <a:ea typeface="Archivo Black"/>
                <a:cs typeface="Archivo Black"/>
                <a:sym typeface="Archivo Black"/>
              </a:rPr>
              <a:t>Overview</a:t>
            </a:r>
          </a:p>
        </p:txBody>
      </p:sp>
      <p:sp>
        <p:nvSpPr>
          <p:cNvPr name="TextBox 7" id="7"/>
          <p:cNvSpPr txBox="true"/>
          <p:nvPr/>
        </p:nvSpPr>
        <p:spPr>
          <a:xfrm rot="0">
            <a:off x="12938218" y="981075"/>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03/14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4" id="4"/>
          <p:cNvSpPr/>
          <p:nvPr/>
        </p:nvSpPr>
        <p:spPr>
          <a:xfrm flipH="false" flipV="false" rot="0">
            <a:off x="2095936" y="4383644"/>
            <a:ext cx="1672526" cy="702461"/>
          </a:xfrm>
          <a:custGeom>
            <a:avLst/>
            <a:gdLst/>
            <a:ahLst/>
            <a:cxnLst/>
            <a:rect r="r" b="b" t="t" l="l"/>
            <a:pathLst>
              <a:path h="702461" w="1672526">
                <a:moveTo>
                  <a:pt x="0" y="0"/>
                </a:moveTo>
                <a:lnTo>
                  <a:pt x="1672526" y="0"/>
                </a:lnTo>
                <a:lnTo>
                  <a:pt x="1672526" y="702461"/>
                </a:lnTo>
                <a:lnTo>
                  <a:pt x="0" y="70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07737" y="4441039"/>
            <a:ext cx="1672526" cy="702461"/>
          </a:xfrm>
          <a:custGeom>
            <a:avLst/>
            <a:gdLst/>
            <a:ahLst/>
            <a:cxnLst/>
            <a:rect r="r" b="b" t="t" l="l"/>
            <a:pathLst>
              <a:path h="702461" w="1672526">
                <a:moveTo>
                  <a:pt x="0" y="0"/>
                </a:moveTo>
                <a:lnTo>
                  <a:pt x="1672526" y="0"/>
                </a:lnTo>
                <a:lnTo>
                  <a:pt x="1672526" y="702461"/>
                </a:lnTo>
                <a:lnTo>
                  <a:pt x="0" y="70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4519538" y="4441039"/>
            <a:ext cx="1672526" cy="702461"/>
          </a:xfrm>
          <a:custGeom>
            <a:avLst/>
            <a:gdLst/>
            <a:ahLst/>
            <a:cxnLst/>
            <a:rect r="r" b="b" t="t" l="l"/>
            <a:pathLst>
              <a:path h="702461" w="1672526">
                <a:moveTo>
                  <a:pt x="0" y="0"/>
                </a:moveTo>
                <a:lnTo>
                  <a:pt x="1672526" y="0"/>
                </a:lnTo>
                <a:lnTo>
                  <a:pt x="1672526" y="702461"/>
                </a:lnTo>
                <a:lnTo>
                  <a:pt x="0" y="7024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0800000">
            <a:off x="11159450" y="-140976"/>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028700" y="1576614"/>
            <a:ext cx="7279037" cy="858094"/>
          </a:xfrm>
          <a:prstGeom prst="rect">
            <a:avLst/>
          </a:prstGeom>
        </p:spPr>
        <p:txBody>
          <a:bodyPr anchor="t" rtlCol="false" tIns="0" lIns="0" bIns="0" rIns="0">
            <a:spAutoFit/>
          </a:bodyPr>
          <a:lstStyle/>
          <a:p>
            <a:pPr algn="l" marL="0" indent="0" lvl="0">
              <a:lnSpc>
                <a:spcPts val="6408"/>
              </a:lnSpc>
              <a:spcBef>
                <a:spcPct val="0"/>
              </a:spcBef>
            </a:pPr>
            <a:r>
              <a:rPr lang="en-US" sz="6408" spc="-506">
                <a:solidFill>
                  <a:srgbClr val="000000"/>
                </a:solidFill>
                <a:latin typeface="Archivo Black"/>
                <a:ea typeface="Archivo Black"/>
                <a:cs typeface="Archivo Black"/>
                <a:sym typeface="Archivo Black"/>
              </a:rPr>
              <a:t> Goals</a:t>
            </a:r>
          </a:p>
        </p:txBody>
      </p:sp>
      <p:sp>
        <p:nvSpPr>
          <p:cNvPr name="TextBox 9" id="9"/>
          <p:cNvSpPr txBox="true"/>
          <p:nvPr/>
        </p:nvSpPr>
        <p:spPr>
          <a:xfrm rot="0">
            <a:off x="14382445" y="981075"/>
            <a:ext cx="2876855"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04/14</a:t>
            </a:r>
          </a:p>
        </p:txBody>
      </p:sp>
      <p:sp>
        <p:nvSpPr>
          <p:cNvPr name="TextBox 10" id="10"/>
          <p:cNvSpPr txBox="true"/>
          <p:nvPr/>
        </p:nvSpPr>
        <p:spPr>
          <a:xfrm rot="0">
            <a:off x="1028700" y="5787205"/>
            <a:ext cx="3806998" cy="628650"/>
          </a:xfrm>
          <a:prstGeom prst="rect">
            <a:avLst/>
          </a:prstGeom>
        </p:spPr>
        <p:txBody>
          <a:bodyPr anchor="t" rtlCol="false" tIns="0" lIns="0" bIns="0" rIns="0">
            <a:spAutoFit/>
          </a:bodyPr>
          <a:lstStyle/>
          <a:p>
            <a:pPr algn="ctr" marL="0" indent="0" lvl="0">
              <a:lnSpc>
                <a:spcPts val="4919"/>
              </a:lnSpc>
              <a:spcBef>
                <a:spcPct val="0"/>
              </a:spcBef>
            </a:pPr>
            <a:r>
              <a:rPr lang="en-US" b="true" sz="4099">
                <a:solidFill>
                  <a:srgbClr val="000000"/>
                </a:solidFill>
                <a:latin typeface="Garet Bold"/>
                <a:ea typeface="Garet Bold"/>
                <a:cs typeface="Garet Bold"/>
                <a:sym typeface="Garet Bold"/>
              </a:rPr>
              <a:t>Goal # 1</a:t>
            </a:r>
          </a:p>
        </p:txBody>
      </p:sp>
      <p:sp>
        <p:nvSpPr>
          <p:cNvPr name="TextBox 11" id="11"/>
          <p:cNvSpPr txBox="true"/>
          <p:nvPr/>
        </p:nvSpPr>
        <p:spPr>
          <a:xfrm rot="0">
            <a:off x="7240501" y="5787205"/>
            <a:ext cx="3806998" cy="628650"/>
          </a:xfrm>
          <a:prstGeom prst="rect">
            <a:avLst/>
          </a:prstGeom>
        </p:spPr>
        <p:txBody>
          <a:bodyPr anchor="t" rtlCol="false" tIns="0" lIns="0" bIns="0" rIns="0">
            <a:spAutoFit/>
          </a:bodyPr>
          <a:lstStyle/>
          <a:p>
            <a:pPr algn="ctr" marL="0" indent="0" lvl="0">
              <a:lnSpc>
                <a:spcPts val="4919"/>
              </a:lnSpc>
              <a:spcBef>
                <a:spcPct val="0"/>
              </a:spcBef>
            </a:pPr>
            <a:r>
              <a:rPr lang="en-US" b="true" sz="4099">
                <a:solidFill>
                  <a:srgbClr val="000000"/>
                </a:solidFill>
                <a:latin typeface="Garet Bold"/>
                <a:ea typeface="Garet Bold"/>
                <a:cs typeface="Garet Bold"/>
                <a:sym typeface="Garet Bold"/>
              </a:rPr>
              <a:t>Goal # 2</a:t>
            </a:r>
          </a:p>
        </p:txBody>
      </p:sp>
      <p:sp>
        <p:nvSpPr>
          <p:cNvPr name="TextBox 12" id="12"/>
          <p:cNvSpPr txBox="true"/>
          <p:nvPr/>
        </p:nvSpPr>
        <p:spPr>
          <a:xfrm rot="0">
            <a:off x="424020" y="6864663"/>
            <a:ext cx="5016359" cy="1581150"/>
          </a:xfrm>
          <a:prstGeom prst="rect">
            <a:avLst/>
          </a:prstGeom>
        </p:spPr>
        <p:txBody>
          <a:bodyPr anchor="t" rtlCol="false" tIns="0" lIns="0" bIns="0" rIns="0">
            <a:spAutoFit/>
          </a:bodyPr>
          <a:lstStyle/>
          <a:p>
            <a:pPr algn="ctr" marL="0" indent="0" lvl="0">
              <a:lnSpc>
                <a:spcPts val="4200"/>
              </a:lnSpc>
              <a:spcBef>
                <a:spcPct val="0"/>
              </a:spcBef>
            </a:pPr>
            <a:r>
              <a:rPr lang="en-US" sz="3000">
                <a:solidFill>
                  <a:srgbClr val="000000"/>
                </a:solidFill>
                <a:latin typeface="Garet"/>
                <a:ea typeface="Garet"/>
                <a:cs typeface="Garet"/>
                <a:sym typeface="Garet"/>
              </a:rPr>
              <a:t>Assess how l</a:t>
            </a:r>
            <a:r>
              <a:rPr lang="en-US" sz="3000" u="none">
                <a:solidFill>
                  <a:srgbClr val="000000"/>
                </a:solidFill>
                <a:latin typeface="Garet"/>
                <a:ea typeface="Garet"/>
                <a:cs typeface="Garet"/>
                <a:sym typeface="Garet"/>
              </a:rPr>
              <a:t>ocation influences home prices</a:t>
            </a:r>
          </a:p>
          <a:p>
            <a:pPr algn="ctr" marL="0" indent="0" lvl="0">
              <a:lnSpc>
                <a:spcPts val="4200"/>
              </a:lnSpc>
              <a:spcBef>
                <a:spcPct val="0"/>
              </a:spcBef>
            </a:pPr>
          </a:p>
        </p:txBody>
      </p:sp>
      <p:sp>
        <p:nvSpPr>
          <p:cNvPr name="TextBox 13" id="13"/>
          <p:cNvSpPr txBox="true"/>
          <p:nvPr/>
        </p:nvSpPr>
        <p:spPr>
          <a:xfrm rot="0">
            <a:off x="6635821" y="6834955"/>
            <a:ext cx="5016359" cy="1543051"/>
          </a:xfrm>
          <a:prstGeom prst="rect">
            <a:avLst/>
          </a:prstGeom>
        </p:spPr>
        <p:txBody>
          <a:bodyPr anchor="t" rtlCol="false" tIns="0" lIns="0" bIns="0" rIns="0">
            <a:spAutoFit/>
          </a:bodyPr>
          <a:lstStyle/>
          <a:p>
            <a:pPr algn="ctr" marL="0" indent="0" lvl="0">
              <a:lnSpc>
                <a:spcPts val="4199"/>
              </a:lnSpc>
              <a:spcBef>
                <a:spcPct val="0"/>
              </a:spcBef>
            </a:pPr>
            <a:r>
              <a:rPr lang="en-US" sz="2999">
                <a:solidFill>
                  <a:srgbClr val="000000"/>
                </a:solidFill>
                <a:latin typeface="Garet"/>
                <a:ea typeface="Garet"/>
                <a:cs typeface="Garet"/>
                <a:sym typeface="Garet"/>
              </a:rPr>
              <a:t>D</a:t>
            </a:r>
            <a:r>
              <a:rPr lang="en-US" sz="2999" u="none">
                <a:solidFill>
                  <a:srgbClr val="000000"/>
                </a:solidFill>
                <a:latin typeface="Garet"/>
                <a:ea typeface="Garet"/>
                <a:cs typeface="Garet"/>
                <a:sym typeface="Garet"/>
              </a:rPr>
              <a:t>etermine the impact of renovations on price</a:t>
            </a:r>
          </a:p>
          <a:p>
            <a:pPr algn="ctr" marL="0" indent="0" lvl="0">
              <a:lnSpc>
                <a:spcPts val="4199"/>
              </a:lnSpc>
              <a:spcBef>
                <a:spcPct val="0"/>
              </a:spcBef>
            </a:pPr>
          </a:p>
        </p:txBody>
      </p:sp>
      <p:sp>
        <p:nvSpPr>
          <p:cNvPr name="TextBox 14" id="14"/>
          <p:cNvSpPr txBox="true"/>
          <p:nvPr/>
        </p:nvSpPr>
        <p:spPr>
          <a:xfrm rot="0">
            <a:off x="13447799" y="5787205"/>
            <a:ext cx="3806998" cy="628650"/>
          </a:xfrm>
          <a:prstGeom prst="rect">
            <a:avLst/>
          </a:prstGeom>
        </p:spPr>
        <p:txBody>
          <a:bodyPr anchor="t" rtlCol="false" tIns="0" lIns="0" bIns="0" rIns="0">
            <a:spAutoFit/>
          </a:bodyPr>
          <a:lstStyle/>
          <a:p>
            <a:pPr algn="ctr" marL="0" indent="0" lvl="0">
              <a:lnSpc>
                <a:spcPts val="4919"/>
              </a:lnSpc>
              <a:spcBef>
                <a:spcPct val="0"/>
              </a:spcBef>
            </a:pPr>
            <a:r>
              <a:rPr lang="en-US" b="true" sz="4099">
                <a:solidFill>
                  <a:srgbClr val="000000"/>
                </a:solidFill>
                <a:latin typeface="Garet Bold"/>
                <a:ea typeface="Garet Bold"/>
                <a:cs typeface="Garet Bold"/>
                <a:sym typeface="Garet Bold"/>
              </a:rPr>
              <a:t>Goal # 3</a:t>
            </a:r>
          </a:p>
        </p:txBody>
      </p:sp>
      <p:sp>
        <p:nvSpPr>
          <p:cNvPr name="TextBox 15" id="15"/>
          <p:cNvSpPr txBox="true"/>
          <p:nvPr/>
        </p:nvSpPr>
        <p:spPr>
          <a:xfrm rot="0">
            <a:off x="12852329" y="6834955"/>
            <a:ext cx="5016359" cy="2590801"/>
          </a:xfrm>
          <a:prstGeom prst="rect">
            <a:avLst/>
          </a:prstGeom>
        </p:spPr>
        <p:txBody>
          <a:bodyPr anchor="t" rtlCol="false" tIns="0" lIns="0" bIns="0" rIns="0">
            <a:spAutoFit/>
          </a:bodyPr>
          <a:lstStyle/>
          <a:p>
            <a:pPr algn="ctr" marL="0" indent="0" lvl="0">
              <a:lnSpc>
                <a:spcPts val="4199"/>
              </a:lnSpc>
              <a:spcBef>
                <a:spcPct val="0"/>
              </a:spcBef>
            </a:pPr>
            <a:r>
              <a:rPr lang="en-US" sz="2999">
                <a:solidFill>
                  <a:srgbClr val="000000"/>
                </a:solidFill>
                <a:latin typeface="Garet"/>
                <a:ea typeface="Garet"/>
                <a:cs typeface="Garet"/>
                <a:sym typeface="Garet"/>
              </a:rPr>
              <a:t>Evaluate wh</a:t>
            </a:r>
            <a:r>
              <a:rPr lang="en-US" sz="2999" u="none">
                <a:solidFill>
                  <a:srgbClr val="000000"/>
                </a:solidFill>
                <a:latin typeface="Garet"/>
                <a:ea typeface="Garet"/>
                <a:cs typeface="Garet"/>
                <a:sym typeface="Garet"/>
              </a:rPr>
              <a:t>ether Nicole can find an affordable home in a lively, central neighborhood</a:t>
            </a:r>
          </a:p>
          <a:p>
            <a:pPr algn="ctr" marL="0" indent="0" lvl="0">
              <a:lnSpc>
                <a:spcPts val="419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pSp>
        <p:nvGrpSpPr>
          <p:cNvPr name="Group 3" id="3"/>
          <p:cNvGrpSpPr>
            <a:grpSpLocks noChangeAspect="true"/>
          </p:cNvGrpSpPr>
          <p:nvPr/>
        </p:nvGrpSpPr>
        <p:grpSpPr>
          <a:xfrm rot="0">
            <a:off x="382295" y="655966"/>
            <a:ext cx="7229504" cy="5427431"/>
            <a:chOff x="0" y="0"/>
            <a:chExt cx="8916670" cy="6694043"/>
          </a:xfrm>
        </p:grpSpPr>
        <p:sp>
          <p:nvSpPr>
            <p:cNvPr name="Freeform 4" id="4"/>
            <p:cNvSpPr/>
            <p:nvPr/>
          </p:nvSpPr>
          <p:spPr>
            <a:xfrm flipH="false" flipV="false" rot="0">
              <a:off x="155575" y="155575"/>
              <a:ext cx="8605520" cy="6382893"/>
            </a:xfrm>
            <a:custGeom>
              <a:avLst/>
              <a:gdLst/>
              <a:ahLst/>
              <a:cxnLst/>
              <a:rect r="r" b="b" t="t" l="l"/>
              <a:pathLst>
                <a:path h="6382893" w="8605520">
                  <a:moveTo>
                    <a:pt x="0" y="0"/>
                  </a:moveTo>
                  <a:lnTo>
                    <a:pt x="8605520" y="0"/>
                  </a:lnTo>
                  <a:lnTo>
                    <a:pt x="8605520" y="6382893"/>
                  </a:lnTo>
                  <a:lnTo>
                    <a:pt x="0" y="6382893"/>
                  </a:lnTo>
                  <a:close/>
                </a:path>
              </a:pathLst>
            </a:custGeom>
            <a:blipFill>
              <a:blip r:embed="rId3"/>
              <a:stretch>
                <a:fillRect l="-5578" t="0" r="-5578" b="0"/>
              </a:stretch>
            </a:blipFill>
          </p:spPr>
        </p:sp>
        <p:sp>
          <p:nvSpPr>
            <p:cNvPr name="Freeform 5" id="5"/>
            <p:cNvSpPr/>
            <p:nvPr/>
          </p:nvSpPr>
          <p:spPr>
            <a:xfrm flipH="false" flipV="false" rot="0">
              <a:off x="6350" y="6350"/>
              <a:ext cx="8903970" cy="6681343"/>
            </a:xfrm>
            <a:custGeom>
              <a:avLst/>
              <a:gdLst/>
              <a:ahLst/>
              <a:cxnLst/>
              <a:rect r="r" b="b" t="t" l="l"/>
              <a:pathLst>
                <a:path h="6681343" w="8903970">
                  <a:moveTo>
                    <a:pt x="8903970" y="6681343"/>
                  </a:moveTo>
                  <a:lnTo>
                    <a:pt x="0" y="6681343"/>
                  </a:lnTo>
                  <a:lnTo>
                    <a:pt x="0" y="0"/>
                  </a:lnTo>
                  <a:lnTo>
                    <a:pt x="8903970" y="0"/>
                  </a:lnTo>
                  <a:lnTo>
                    <a:pt x="8903970" y="6681343"/>
                  </a:lnTo>
                  <a:close/>
                  <a:moveTo>
                    <a:pt x="19050" y="6662293"/>
                  </a:moveTo>
                  <a:lnTo>
                    <a:pt x="8884920" y="6662293"/>
                  </a:lnTo>
                  <a:lnTo>
                    <a:pt x="8884920" y="19050"/>
                  </a:lnTo>
                  <a:lnTo>
                    <a:pt x="19050" y="19050"/>
                  </a:lnTo>
                  <a:lnTo>
                    <a:pt x="19050" y="6662293"/>
                  </a:lnTo>
                  <a:close/>
                  <a:moveTo>
                    <a:pt x="8764270" y="6541643"/>
                  </a:moveTo>
                  <a:lnTo>
                    <a:pt x="139700" y="6541643"/>
                  </a:lnTo>
                  <a:lnTo>
                    <a:pt x="139700" y="139700"/>
                  </a:lnTo>
                  <a:lnTo>
                    <a:pt x="8764270" y="139700"/>
                  </a:lnTo>
                  <a:lnTo>
                    <a:pt x="8764270" y="6541643"/>
                  </a:lnTo>
                  <a:close/>
                  <a:moveTo>
                    <a:pt x="158750" y="6522593"/>
                  </a:moveTo>
                  <a:lnTo>
                    <a:pt x="8745220" y="6522593"/>
                  </a:lnTo>
                  <a:lnTo>
                    <a:pt x="8745220" y="158750"/>
                  </a:lnTo>
                  <a:lnTo>
                    <a:pt x="158750" y="158750"/>
                  </a:lnTo>
                  <a:lnTo>
                    <a:pt x="158750" y="6522593"/>
                  </a:lnTo>
                  <a:close/>
                </a:path>
              </a:pathLst>
            </a:custGeom>
            <a:solidFill>
              <a:srgbClr val="000000"/>
            </a:solidFill>
          </p:spPr>
        </p:sp>
      </p:grpSp>
      <p:sp>
        <p:nvSpPr>
          <p:cNvPr name="Freeform 6" id="6"/>
          <p:cNvSpPr/>
          <p:nvPr/>
        </p:nvSpPr>
        <p:spPr>
          <a:xfrm flipH="false" flipV="false" rot="0">
            <a:off x="2095608" y="8122318"/>
            <a:ext cx="3802877" cy="1486579"/>
          </a:xfrm>
          <a:custGeom>
            <a:avLst/>
            <a:gdLst/>
            <a:ahLst/>
            <a:cxnLst/>
            <a:rect r="r" b="b" t="t" l="l"/>
            <a:pathLst>
              <a:path h="1486579" w="3802877">
                <a:moveTo>
                  <a:pt x="0" y="0"/>
                </a:moveTo>
                <a:lnTo>
                  <a:pt x="3802877" y="0"/>
                </a:lnTo>
                <a:lnTo>
                  <a:pt x="3802877" y="1486579"/>
                </a:lnTo>
                <a:lnTo>
                  <a:pt x="0" y="14865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608903" y="6580946"/>
            <a:ext cx="7203393" cy="789241"/>
          </a:xfrm>
          <a:prstGeom prst="rect">
            <a:avLst/>
          </a:prstGeom>
        </p:spPr>
        <p:txBody>
          <a:bodyPr anchor="t" rtlCol="false" tIns="0" lIns="0" bIns="0" rIns="0">
            <a:spAutoFit/>
          </a:bodyPr>
          <a:lstStyle/>
          <a:p>
            <a:pPr algn="r" marL="0" indent="0" lvl="0">
              <a:lnSpc>
                <a:spcPts val="5808"/>
              </a:lnSpc>
              <a:spcBef>
                <a:spcPct val="0"/>
              </a:spcBef>
            </a:pPr>
            <a:r>
              <a:rPr lang="en-US" sz="5808" spc="-458">
                <a:solidFill>
                  <a:srgbClr val="000000"/>
                </a:solidFill>
                <a:latin typeface="Archivo Black"/>
                <a:ea typeface="Archivo Black"/>
                <a:cs typeface="Archivo Black"/>
                <a:sym typeface="Archivo Black"/>
              </a:rPr>
              <a:t>Client’s vision</a:t>
            </a:r>
          </a:p>
        </p:txBody>
      </p:sp>
      <p:sp>
        <p:nvSpPr>
          <p:cNvPr name="TextBox 8" id="8"/>
          <p:cNvSpPr txBox="true"/>
          <p:nvPr/>
        </p:nvSpPr>
        <p:spPr>
          <a:xfrm rot="0">
            <a:off x="12938218" y="608341"/>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05/14</a:t>
            </a:r>
          </a:p>
        </p:txBody>
      </p:sp>
      <p:sp>
        <p:nvSpPr>
          <p:cNvPr name="TextBox 9" id="9"/>
          <p:cNvSpPr txBox="true"/>
          <p:nvPr/>
        </p:nvSpPr>
        <p:spPr>
          <a:xfrm rot="0">
            <a:off x="8061472" y="1196387"/>
            <a:ext cx="9959033" cy="8515350"/>
          </a:xfrm>
          <a:prstGeom prst="rect">
            <a:avLst/>
          </a:prstGeom>
        </p:spPr>
        <p:txBody>
          <a:bodyPr anchor="t" rtlCol="false" tIns="0" lIns="0" bIns="0" rIns="0">
            <a:spAutoFit/>
          </a:bodyPr>
          <a:lstStyle/>
          <a:p>
            <a:pPr algn="just">
              <a:lnSpc>
                <a:spcPts val="4200"/>
              </a:lnSpc>
            </a:pPr>
            <a:r>
              <a:rPr lang="en-US" sz="3000">
                <a:solidFill>
                  <a:srgbClr val="000000"/>
                </a:solidFill>
                <a:latin typeface="Garet"/>
                <a:ea typeface="Garet"/>
                <a:cs typeface="Garet"/>
                <a:sym typeface="Garet"/>
              </a:rPr>
              <a:t>Nicole Johnson is looking to buy a home in the Seattle area, and she has a very clear set of priorities. She wants a lively, central neighborhood with good access to amenities, schools, and transportation. Nicole is shopping in the middle price range, meaning she’s looking for good value but not luxury-level pricing. She also plans to buy within the next year, so understanding the right timing and seasonal price trends is important for her.</a:t>
            </a:r>
          </a:p>
          <a:p>
            <a:pPr algn="just">
              <a:lnSpc>
                <a:spcPts val="4200"/>
              </a:lnSpc>
            </a:pPr>
            <a:r>
              <a:rPr lang="en-US" sz="3000">
                <a:solidFill>
                  <a:srgbClr val="000000"/>
                </a:solidFill>
                <a:latin typeface="Garet"/>
                <a:ea typeface="Garet"/>
                <a:cs typeface="Garet"/>
                <a:sym typeface="Garet"/>
              </a:rPr>
              <a:t>Throughout this analysis, every step — from data cleaning to exploring geographical patterns — has been aligned with client’s needs to identify the most suitable ZIP codes and three specific property recommendations</a:t>
            </a:r>
          </a:p>
          <a:p>
            <a:pPr algn="just">
              <a:lnSpc>
                <a:spcPts val="420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577550" y="712460"/>
            <a:ext cx="17221219" cy="7085840"/>
          </a:xfrm>
          <a:custGeom>
            <a:avLst/>
            <a:gdLst/>
            <a:ahLst/>
            <a:cxnLst/>
            <a:rect r="r" b="b" t="t" l="l"/>
            <a:pathLst>
              <a:path h="7085840" w="17221219">
                <a:moveTo>
                  <a:pt x="0" y="0"/>
                </a:moveTo>
                <a:lnTo>
                  <a:pt x="17221219" y="0"/>
                </a:lnTo>
                <a:lnTo>
                  <a:pt x="17221219" y="7085840"/>
                </a:lnTo>
                <a:lnTo>
                  <a:pt x="0" y="7085840"/>
                </a:lnTo>
                <a:lnTo>
                  <a:pt x="0" y="0"/>
                </a:lnTo>
                <a:close/>
              </a:path>
            </a:pathLst>
          </a:custGeom>
          <a:blipFill>
            <a:blip r:embed="rId3"/>
            <a:stretch>
              <a:fillRect l="0" t="-1616" r="0" b="-1616"/>
            </a:stretch>
          </a:blipFill>
        </p:spPr>
      </p:sp>
      <p:sp>
        <p:nvSpPr>
          <p:cNvPr name="TextBox 4" id="4"/>
          <p:cNvSpPr txBox="true"/>
          <p:nvPr/>
        </p:nvSpPr>
        <p:spPr>
          <a:xfrm rot="0">
            <a:off x="577550" y="194310"/>
            <a:ext cx="15314421" cy="419100"/>
          </a:xfrm>
          <a:prstGeom prst="rect">
            <a:avLst/>
          </a:prstGeom>
        </p:spPr>
        <p:txBody>
          <a:bodyPr anchor="t" rtlCol="false" tIns="0" lIns="0" bIns="0" rIns="0">
            <a:spAutoFit/>
          </a:bodyPr>
          <a:lstStyle/>
          <a:p>
            <a:pPr algn="l">
              <a:lnSpc>
                <a:spcPts val="3240"/>
              </a:lnSpc>
            </a:pPr>
            <a:r>
              <a:rPr lang="en-US" sz="2700">
                <a:solidFill>
                  <a:srgbClr val="000000"/>
                </a:solidFill>
                <a:latin typeface="Archivo Black"/>
                <a:ea typeface="Archivo Black"/>
                <a:cs typeface="Archivo Black"/>
                <a:sym typeface="Archivo Black"/>
              </a:rPr>
              <a:t>A1: Homes in central/northern coordinates have higher prices</a:t>
            </a:r>
          </a:p>
        </p:txBody>
      </p:sp>
      <p:grpSp>
        <p:nvGrpSpPr>
          <p:cNvPr name="Group 5" id="5"/>
          <p:cNvGrpSpPr/>
          <p:nvPr/>
        </p:nvGrpSpPr>
        <p:grpSpPr>
          <a:xfrm rot="0">
            <a:off x="689164" y="8184796"/>
            <a:ext cx="7664150" cy="1459967"/>
            <a:chOff x="0" y="0"/>
            <a:chExt cx="10218867" cy="1946622"/>
          </a:xfrm>
        </p:grpSpPr>
        <p:sp>
          <p:nvSpPr>
            <p:cNvPr name="TextBox 6" id="6"/>
            <p:cNvSpPr txBox="true"/>
            <p:nvPr/>
          </p:nvSpPr>
          <p:spPr>
            <a:xfrm rot="0">
              <a:off x="0" y="-19050"/>
              <a:ext cx="10218867" cy="416983"/>
            </a:xfrm>
            <a:prstGeom prst="rect">
              <a:avLst/>
            </a:prstGeom>
          </p:spPr>
          <p:txBody>
            <a:bodyPr anchor="t" rtlCol="false" tIns="0" lIns="0" bIns="0" rIns="0">
              <a:spAutoFit/>
            </a:bodyPr>
            <a:lstStyle/>
            <a:p>
              <a:pPr algn="l" marL="0" indent="0" lvl="0">
                <a:lnSpc>
                  <a:spcPts val="2600"/>
                </a:lnSpc>
                <a:spcBef>
                  <a:spcPct val="0"/>
                </a:spcBef>
              </a:pPr>
              <a:r>
                <a:rPr lang="en-US" b="true" sz="2000">
                  <a:solidFill>
                    <a:srgbClr val="000000"/>
                  </a:solidFill>
                  <a:latin typeface="Garet Bold"/>
                  <a:ea typeface="Garet Bold"/>
                  <a:cs typeface="Garet Bold"/>
                  <a:sym typeface="Garet Bold"/>
                </a:rPr>
                <a:t>Latitude increases when you move north.</a:t>
              </a:r>
            </a:p>
          </p:txBody>
        </p:sp>
        <p:sp>
          <p:nvSpPr>
            <p:cNvPr name="TextBox 7" id="7"/>
            <p:cNvSpPr txBox="true"/>
            <p:nvPr/>
          </p:nvSpPr>
          <p:spPr>
            <a:xfrm rot="0">
              <a:off x="0" y="517026"/>
              <a:ext cx="10218867" cy="1429597"/>
            </a:xfrm>
            <a:prstGeom prst="rect">
              <a:avLst/>
            </a:prstGeom>
          </p:spPr>
          <p:txBody>
            <a:bodyPr anchor="t" rtlCol="false" tIns="0" lIns="0" bIns="0" rIns="0">
              <a:spAutoFit/>
            </a:bodyPr>
            <a:lstStyle/>
            <a:p>
              <a:pPr algn="l" marL="0" indent="0" lvl="0">
                <a:lnSpc>
                  <a:spcPts val="2859"/>
                </a:lnSpc>
                <a:spcBef>
                  <a:spcPct val="0"/>
                </a:spcBef>
              </a:pPr>
              <a:r>
                <a:rPr lang="en-US" sz="2199">
                  <a:solidFill>
                    <a:srgbClr val="000000"/>
                  </a:solidFill>
                  <a:latin typeface="Garet"/>
                  <a:ea typeface="Garet"/>
                  <a:cs typeface="Garet"/>
                  <a:sym typeface="Garet"/>
                </a:rPr>
                <a:t>Houses farther north—closer to Seattle city center and upscale northern neighborhoods—tend to be significantly more expensive.</a:t>
              </a:r>
            </a:p>
          </p:txBody>
        </p:sp>
      </p:grpSp>
      <p:sp>
        <p:nvSpPr>
          <p:cNvPr name="TextBox 8" id="8"/>
          <p:cNvSpPr txBox="true"/>
          <p:nvPr/>
        </p:nvSpPr>
        <p:spPr>
          <a:xfrm rot="0">
            <a:off x="13361794" y="104775"/>
            <a:ext cx="37114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06/14</a:t>
            </a:r>
          </a:p>
        </p:txBody>
      </p:sp>
      <p:grpSp>
        <p:nvGrpSpPr>
          <p:cNvPr name="Group 9" id="9"/>
          <p:cNvGrpSpPr/>
          <p:nvPr/>
        </p:nvGrpSpPr>
        <p:grpSpPr>
          <a:xfrm rot="0">
            <a:off x="9807947" y="8222896"/>
            <a:ext cx="7990822" cy="1421867"/>
            <a:chOff x="0" y="0"/>
            <a:chExt cx="10654429" cy="1895822"/>
          </a:xfrm>
        </p:grpSpPr>
        <p:sp>
          <p:nvSpPr>
            <p:cNvPr name="TextBox 10" id="10"/>
            <p:cNvSpPr txBox="true"/>
            <p:nvPr/>
          </p:nvSpPr>
          <p:spPr>
            <a:xfrm rot="0">
              <a:off x="0" y="-19050"/>
              <a:ext cx="10654429" cy="848783"/>
            </a:xfrm>
            <a:prstGeom prst="rect">
              <a:avLst/>
            </a:prstGeom>
          </p:spPr>
          <p:txBody>
            <a:bodyPr anchor="t" rtlCol="false" tIns="0" lIns="0" bIns="0" rIns="0">
              <a:spAutoFit/>
            </a:bodyPr>
            <a:lstStyle/>
            <a:p>
              <a:pPr algn="l" marL="0" indent="0" lvl="0">
                <a:lnSpc>
                  <a:spcPts val="2600"/>
                </a:lnSpc>
                <a:spcBef>
                  <a:spcPct val="0"/>
                </a:spcBef>
              </a:pPr>
              <a:r>
                <a:rPr lang="en-US" b="true" sz="2000">
                  <a:solidFill>
                    <a:srgbClr val="000000"/>
                  </a:solidFill>
                  <a:latin typeface="Garet Bold"/>
                  <a:ea typeface="Garet Bold"/>
                  <a:cs typeface="Garet Bold"/>
                  <a:sym typeface="Garet Bold"/>
                </a:rPr>
                <a:t>Longitude increases to the east (less negative) and decreases to the west.</a:t>
              </a:r>
            </a:p>
          </p:txBody>
        </p:sp>
        <p:sp>
          <p:nvSpPr>
            <p:cNvPr name="TextBox 11" id="11"/>
            <p:cNvSpPr txBox="true"/>
            <p:nvPr/>
          </p:nvSpPr>
          <p:spPr>
            <a:xfrm rot="0">
              <a:off x="0" y="948826"/>
              <a:ext cx="10654429" cy="946997"/>
            </a:xfrm>
            <a:prstGeom prst="rect">
              <a:avLst/>
            </a:prstGeom>
          </p:spPr>
          <p:txBody>
            <a:bodyPr anchor="t" rtlCol="false" tIns="0" lIns="0" bIns="0" rIns="0">
              <a:spAutoFit/>
            </a:bodyPr>
            <a:lstStyle/>
            <a:p>
              <a:pPr algn="l" marL="0" indent="0" lvl="0">
                <a:lnSpc>
                  <a:spcPts val="2859"/>
                </a:lnSpc>
                <a:spcBef>
                  <a:spcPct val="0"/>
                </a:spcBef>
              </a:pPr>
              <a:r>
                <a:rPr lang="en-US" sz="2199">
                  <a:solidFill>
                    <a:srgbClr val="000000"/>
                  </a:solidFill>
                  <a:latin typeface="Garet"/>
                  <a:ea typeface="Garet"/>
                  <a:cs typeface="Garet"/>
                  <a:sym typeface="Garet"/>
                </a:rPr>
                <a:t>Houses closer to the western coastline are noticeably more expensive</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577550" y="894137"/>
            <a:ext cx="12784244" cy="8805148"/>
          </a:xfrm>
          <a:custGeom>
            <a:avLst/>
            <a:gdLst/>
            <a:ahLst/>
            <a:cxnLst/>
            <a:rect r="r" b="b" t="t" l="l"/>
            <a:pathLst>
              <a:path h="8805148" w="12784244">
                <a:moveTo>
                  <a:pt x="0" y="0"/>
                </a:moveTo>
                <a:lnTo>
                  <a:pt x="12784244" y="0"/>
                </a:lnTo>
                <a:lnTo>
                  <a:pt x="12784244" y="8805148"/>
                </a:lnTo>
                <a:lnTo>
                  <a:pt x="0" y="8805148"/>
                </a:lnTo>
                <a:lnTo>
                  <a:pt x="0" y="0"/>
                </a:lnTo>
                <a:close/>
              </a:path>
            </a:pathLst>
          </a:custGeom>
          <a:blipFill>
            <a:blip r:embed="rId3"/>
            <a:stretch>
              <a:fillRect l="0" t="0" r="0" b="0"/>
            </a:stretch>
          </a:blipFill>
        </p:spPr>
      </p:sp>
      <p:sp>
        <p:nvSpPr>
          <p:cNvPr name="TextBox 4" id="4"/>
          <p:cNvSpPr txBox="true"/>
          <p:nvPr/>
        </p:nvSpPr>
        <p:spPr>
          <a:xfrm rot="0">
            <a:off x="577550" y="194310"/>
            <a:ext cx="15314421" cy="419100"/>
          </a:xfrm>
          <a:prstGeom prst="rect">
            <a:avLst/>
          </a:prstGeom>
        </p:spPr>
        <p:txBody>
          <a:bodyPr anchor="t" rtlCol="false" tIns="0" lIns="0" bIns="0" rIns="0">
            <a:spAutoFit/>
          </a:bodyPr>
          <a:lstStyle/>
          <a:p>
            <a:pPr algn="l">
              <a:lnSpc>
                <a:spcPts val="3240"/>
              </a:lnSpc>
            </a:pPr>
            <a:r>
              <a:rPr lang="en-US" sz="2700">
                <a:solidFill>
                  <a:srgbClr val="000000"/>
                </a:solidFill>
                <a:latin typeface="Archivo Black"/>
                <a:ea typeface="Archivo Black"/>
                <a:cs typeface="Archivo Black"/>
                <a:sym typeface="Archivo Black"/>
              </a:rPr>
              <a:t>A2: Renovated homes tend to be more expensive than non-renovated homes</a:t>
            </a:r>
          </a:p>
        </p:txBody>
      </p:sp>
      <p:sp>
        <p:nvSpPr>
          <p:cNvPr name="TextBox 5" id="5"/>
          <p:cNvSpPr txBox="true"/>
          <p:nvPr/>
        </p:nvSpPr>
        <p:spPr>
          <a:xfrm rot="0">
            <a:off x="13778642" y="2075964"/>
            <a:ext cx="4078822" cy="2886710"/>
          </a:xfrm>
          <a:prstGeom prst="rect">
            <a:avLst/>
          </a:prstGeom>
        </p:spPr>
        <p:txBody>
          <a:bodyPr anchor="t" rtlCol="false" tIns="0" lIns="0" bIns="0" rIns="0">
            <a:spAutoFit/>
          </a:bodyPr>
          <a:lstStyle/>
          <a:p>
            <a:pPr algn="just">
              <a:lnSpc>
                <a:spcPts val="2859"/>
              </a:lnSpc>
            </a:pPr>
            <a:r>
              <a:rPr lang="en-US" sz="2199">
                <a:solidFill>
                  <a:srgbClr val="000000"/>
                </a:solidFill>
                <a:latin typeface="Garet"/>
                <a:ea typeface="Garet"/>
                <a:cs typeface="Garet"/>
                <a:sym typeface="Garet"/>
              </a:rPr>
              <a:t>Renovated properties require less upfront work but come at a higher purchase price.</a:t>
            </a:r>
          </a:p>
          <a:p>
            <a:pPr algn="just">
              <a:lnSpc>
                <a:spcPts val="2859"/>
              </a:lnSpc>
            </a:pPr>
            <a:r>
              <a:rPr lang="en-US" sz="2199">
                <a:solidFill>
                  <a:srgbClr val="000000"/>
                </a:solidFill>
                <a:latin typeface="Garet"/>
                <a:ea typeface="Garet"/>
                <a:cs typeface="Garet"/>
                <a:sym typeface="Garet"/>
              </a:rPr>
              <a:t>Non-renovated homes may offer opportunities for value-add investments.</a:t>
            </a:r>
          </a:p>
          <a:p>
            <a:pPr algn="just" marL="0" indent="0" lvl="0">
              <a:lnSpc>
                <a:spcPts val="2859"/>
              </a:lnSpc>
              <a:spcBef>
                <a:spcPct val="0"/>
              </a:spcBef>
            </a:pPr>
          </a:p>
        </p:txBody>
      </p:sp>
      <p:sp>
        <p:nvSpPr>
          <p:cNvPr name="TextBox 6" id="6"/>
          <p:cNvSpPr txBox="true"/>
          <p:nvPr/>
        </p:nvSpPr>
        <p:spPr>
          <a:xfrm rot="0">
            <a:off x="13361794" y="104775"/>
            <a:ext cx="37114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07/14</a:t>
            </a:r>
          </a:p>
        </p:txBody>
      </p:sp>
      <p:grpSp>
        <p:nvGrpSpPr>
          <p:cNvPr name="Group 7" id="7"/>
          <p:cNvGrpSpPr/>
          <p:nvPr/>
        </p:nvGrpSpPr>
        <p:grpSpPr>
          <a:xfrm rot="0">
            <a:off x="13815601" y="5105549"/>
            <a:ext cx="4152740" cy="4679417"/>
            <a:chOff x="0" y="0"/>
            <a:chExt cx="5536987" cy="6239222"/>
          </a:xfrm>
        </p:grpSpPr>
        <p:sp>
          <p:nvSpPr>
            <p:cNvPr name="TextBox 8" id="8"/>
            <p:cNvSpPr txBox="true"/>
            <p:nvPr/>
          </p:nvSpPr>
          <p:spPr>
            <a:xfrm rot="0">
              <a:off x="0" y="-19050"/>
              <a:ext cx="5536987" cy="848783"/>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00000"/>
                  </a:solidFill>
                  <a:latin typeface="Garet Bold"/>
                  <a:ea typeface="Garet Bold"/>
                  <a:cs typeface="Garet Bold"/>
                  <a:sym typeface="Garet Bold"/>
                </a:rPr>
                <a:t>Renovated homes vary more widely in price</a:t>
              </a:r>
            </a:p>
          </p:txBody>
        </p:sp>
        <p:sp>
          <p:nvSpPr>
            <p:cNvPr name="TextBox 9" id="9"/>
            <p:cNvSpPr txBox="true"/>
            <p:nvPr/>
          </p:nvSpPr>
          <p:spPr>
            <a:xfrm rot="0">
              <a:off x="0" y="948826"/>
              <a:ext cx="5536987" cy="5290397"/>
            </a:xfrm>
            <a:prstGeom prst="rect">
              <a:avLst/>
            </a:prstGeom>
          </p:spPr>
          <p:txBody>
            <a:bodyPr anchor="t" rtlCol="false" tIns="0" lIns="0" bIns="0" rIns="0">
              <a:spAutoFit/>
            </a:bodyPr>
            <a:lstStyle/>
            <a:p>
              <a:pPr algn="just">
                <a:lnSpc>
                  <a:spcPts val="2859"/>
                </a:lnSpc>
              </a:pPr>
              <a:r>
                <a:rPr lang="en-US" sz="2199">
                  <a:solidFill>
                    <a:srgbClr val="000000"/>
                  </a:solidFill>
                  <a:latin typeface="Garet"/>
                  <a:ea typeface="Garet"/>
                  <a:cs typeface="Garet"/>
                  <a:sym typeface="Garet"/>
                </a:rPr>
                <a:t>The whiskers on the renovated bar are much longer, meaning:</a:t>
              </a:r>
            </a:p>
            <a:p>
              <a:pPr algn="just">
                <a:lnSpc>
                  <a:spcPts val="2859"/>
                </a:lnSpc>
              </a:pPr>
              <a:r>
                <a:rPr lang="en-US" sz="2199">
                  <a:solidFill>
                    <a:srgbClr val="000000"/>
                  </a:solidFill>
                  <a:latin typeface="Garet"/>
                  <a:ea typeface="Garet"/>
                  <a:cs typeface="Garet"/>
                  <a:sym typeface="Garet"/>
                </a:rPr>
                <a:t>Some renovated homes are moderately priced.</a:t>
              </a:r>
            </a:p>
            <a:p>
              <a:pPr algn="just">
                <a:lnSpc>
                  <a:spcPts val="2859"/>
                </a:lnSpc>
              </a:pPr>
              <a:r>
                <a:rPr lang="en-US" sz="2199">
                  <a:solidFill>
                    <a:srgbClr val="000000"/>
                  </a:solidFill>
                  <a:latin typeface="Garet"/>
                  <a:ea typeface="Garet"/>
                  <a:cs typeface="Garet"/>
                  <a:sym typeface="Garet"/>
                </a:rPr>
                <a:t>Others are very expensive.</a:t>
              </a:r>
            </a:p>
            <a:p>
              <a:pPr algn="just">
                <a:lnSpc>
                  <a:spcPts val="2859"/>
                </a:lnSpc>
              </a:pPr>
              <a:r>
                <a:rPr lang="en-US" sz="2199">
                  <a:solidFill>
                    <a:srgbClr val="000000"/>
                  </a:solidFill>
                  <a:latin typeface="Garet"/>
                  <a:ea typeface="Garet"/>
                  <a:cs typeface="Garet"/>
                  <a:sym typeface="Garet"/>
                </a:rPr>
                <a:t>This group includes small remodels and high-end luxury renovations.</a:t>
              </a:r>
            </a:p>
            <a:p>
              <a:pPr algn="just">
                <a:lnSpc>
                  <a:spcPts val="2859"/>
                </a:lnSpc>
              </a:pPr>
            </a:p>
            <a:p>
              <a:pPr algn="just" marL="0" indent="0" lvl="0">
                <a:lnSpc>
                  <a:spcPts val="2859"/>
                </a:lnSpc>
                <a:spcBef>
                  <a:spcPct val="0"/>
                </a:spcBef>
              </a:pPr>
            </a:p>
          </p:txBody>
        </p:sp>
      </p:grpSp>
      <p:sp>
        <p:nvSpPr>
          <p:cNvPr name="TextBox 10" id="10"/>
          <p:cNvSpPr txBox="true"/>
          <p:nvPr/>
        </p:nvSpPr>
        <p:spPr>
          <a:xfrm rot="0">
            <a:off x="13778642" y="846512"/>
            <a:ext cx="3892798" cy="1108710"/>
          </a:xfrm>
          <a:prstGeom prst="rect">
            <a:avLst/>
          </a:prstGeom>
        </p:spPr>
        <p:txBody>
          <a:bodyPr anchor="t" rtlCol="false" tIns="0" lIns="0" bIns="0" rIns="0">
            <a:spAutoFit/>
          </a:bodyPr>
          <a:lstStyle/>
          <a:p>
            <a:pPr algn="just">
              <a:lnSpc>
                <a:spcPts val="2939"/>
              </a:lnSpc>
              <a:spcBef>
                <a:spcPct val="0"/>
              </a:spcBef>
            </a:pPr>
            <a:r>
              <a:rPr lang="en-US" b="true" sz="2099">
                <a:solidFill>
                  <a:srgbClr val="000000"/>
                </a:solidFill>
                <a:latin typeface="Garet Bold"/>
                <a:ea typeface="Garet Bold"/>
                <a:cs typeface="Garet Bold"/>
                <a:sym typeface="Garet Bold"/>
              </a:rPr>
              <a:t>Renovations significantly raise home values in this market.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79336" y="800781"/>
            <a:ext cx="12474598" cy="8685439"/>
          </a:xfrm>
          <a:custGeom>
            <a:avLst/>
            <a:gdLst/>
            <a:ahLst/>
            <a:cxnLst/>
            <a:rect r="r" b="b" t="t" l="l"/>
            <a:pathLst>
              <a:path h="8685439" w="12474598">
                <a:moveTo>
                  <a:pt x="0" y="0"/>
                </a:moveTo>
                <a:lnTo>
                  <a:pt x="12474598" y="0"/>
                </a:lnTo>
                <a:lnTo>
                  <a:pt x="12474598" y="8685438"/>
                </a:lnTo>
                <a:lnTo>
                  <a:pt x="0" y="8685438"/>
                </a:lnTo>
                <a:lnTo>
                  <a:pt x="0" y="0"/>
                </a:lnTo>
                <a:close/>
              </a:path>
            </a:pathLst>
          </a:custGeom>
          <a:blipFill>
            <a:blip r:embed="rId3"/>
            <a:stretch>
              <a:fillRect l="0" t="0" r="0" b="0"/>
            </a:stretch>
          </a:blipFill>
        </p:spPr>
      </p:sp>
      <p:sp>
        <p:nvSpPr>
          <p:cNvPr name="TextBox 4" id="4"/>
          <p:cNvSpPr txBox="true"/>
          <p:nvPr/>
        </p:nvSpPr>
        <p:spPr>
          <a:xfrm rot="0">
            <a:off x="577550" y="194310"/>
            <a:ext cx="15314421" cy="419100"/>
          </a:xfrm>
          <a:prstGeom prst="rect">
            <a:avLst/>
          </a:prstGeom>
        </p:spPr>
        <p:txBody>
          <a:bodyPr anchor="t" rtlCol="false" tIns="0" lIns="0" bIns="0" rIns="0">
            <a:spAutoFit/>
          </a:bodyPr>
          <a:lstStyle/>
          <a:p>
            <a:pPr algn="l">
              <a:lnSpc>
                <a:spcPts val="3240"/>
              </a:lnSpc>
            </a:pPr>
            <a:r>
              <a:rPr lang="en-US" sz="2700">
                <a:solidFill>
                  <a:srgbClr val="000000"/>
                </a:solidFill>
                <a:latin typeface="Archivo Black"/>
                <a:ea typeface="Archivo Black"/>
                <a:cs typeface="Archivo Black"/>
                <a:sym typeface="Archivo Black"/>
              </a:rPr>
              <a:t>A3: There are mid-priced houses in the central area for Nicole</a:t>
            </a:r>
          </a:p>
        </p:txBody>
      </p:sp>
      <p:grpSp>
        <p:nvGrpSpPr>
          <p:cNvPr name="Group 5" id="5"/>
          <p:cNvGrpSpPr/>
          <p:nvPr/>
        </p:nvGrpSpPr>
        <p:grpSpPr>
          <a:xfrm rot="0">
            <a:off x="12828163" y="4462212"/>
            <a:ext cx="5357455" cy="2907767"/>
            <a:chOff x="0" y="0"/>
            <a:chExt cx="7143273" cy="3877022"/>
          </a:xfrm>
        </p:grpSpPr>
        <p:sp>
          <p:nvSpPr>
            <p:cNvPr name="TextBox 6" id="6"/>
            <p:cNvSpPr txBox="true"/>
            <p:nvPr/>
          </p:nvSpPr>
          <p:spPr>
            <a:xfrm rot="0">
              <a:off x="0" y="-19050"/>
              <a:ext cx="7143273" cy="416983"/>
            </a:xfrm>
            <a:prstGeom prst="rect">
              <a:avLst/>
            </a:prstGeom>
          </p:spPr>
          <p:txBody>
            <a:bodyPr anchor="t" rtlCol="false" tIns="0" lIns="0" bIns="0" rIns="0">
              <a:spAutoFit/>
            </a:bodyPr>
            <a:lstStyle/>
            <a:p>
              <a:pPr algn="l" marL="0" indent="0" lvl="0">
                <a:lnSpc>
                  <a:spcPts val="2600"/>
                </a:lnSpc>
                <a:spcBef>
                  <a:spcPct val="0"/>
                </a:spcBef>
              </a:pPr>
              <a:r>
                <a:rPr lang="en-US" b="true" sz="2000">
                  <a:solidFill>
                    <a:srgbClr val="000000"/>
                  </a:solidFill>
                  <a:latin typeface="Garet Bold"/>
                  <a:ea typeface="Garet Bold"/>
                  <a:cs typeface="Garet Bold"/>
                  <a:sym typeface="Garet Bold"/>
                </a:rPr>
                <a:t>Great location → Look top-left</a:t>
              </a:r>
            </a:p>
          </p:txBody>
        </p:sp>
        <p:sp>
          <p:nvSpPr>
            <p:cNvPr name="TextBox 7" id="7"/>
            <p:cNvSpPr txBox="true"/>
            <p:nvPr/>
          </p:nvSpPr>
          <p:spPr>
            <a:xfrm rot="0">
              <a:off x="0" y="517026"/>
              <a:ext cx="7143273" cy="3359997"/>
            </a:xfrm>
            <a:prstGeom prst="rect">
              <a:avLst/>
            </a:prstGeom>
          </p:spPr>
          <p:txBody>
            <a:bodyPr anchor="t" rtlCol="false" tIns="0" lIns="0" bIns="0" rIns="0">
              <a:spAutoFit/>
            </a:bodyPr>
            <a:lstStyle/>
            <a:p>
              <a:pPr algn="just" marL="0" indent="0" lvl="0">
                <a:lnSpc>
                  <a:spcPts val="2859"/>
                </a:lnSpc>
                <a:spcBef>
                  <a:spcPct val="0"/>
                </a:spcBef>
              </a:pPr>
              <a:r>
                <a:rPr lang="en-US" sz="2199">
                  <a:solidFill>
                    <a:srgbClr val="000000"/>
                  </a:solidFill>
                  <a:latin typeface="Garet"/>
                  <a:ea typeface="Garet"/>
                  <a:cs typeface="Garet"/>
                  <a:sym typeface="Garet"/>
                </a:rPr>
                <a:t>Luxury ZIP codes sit in the upper-left of the chart, while great value neighborhoods sit lower and toward the middle. Three recommended homes are positioned in areas that balance price, location, and long-term value.’</a:t>
              </a:r>
            </a:p>
          </p:txBody>
        </p:sp>
      </p:grpSp>
      <p:sp>
        <p:nvSpPr>
          <p:cNvPr name="TextBox 8" id="8"/>
          <p:cNvSpPr txBox="true"/>
          <p:nvPr/>
        </p:nvSpPr>
        <p:spPr>
          <a:xfrm rot="0">
            <a:off x="13361794" y="104775"/>
            <a:ext cx="37114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08/14</a:t>
            </a:r>
          </a:p>
        </p:txBody>
      </p:sp>
      <p:grpSp>
        <p:nvGrpSpPr>
          <p:cNvPr name="Group 9" id="9"/>
          <p:cNvGrpSpPr/>
          <p:nvPr/>
        </p:nvGrpSpPr>
        <p:grpSpPr>
          <a:xfrm rot="0">
            <a:off x="12828163" y="731427"/>
            <a:ext cx="5459837" cy="3231617"/>
            <a:chOff x="0" y="0"/>
            <a:chExt cx="7279783" cy="4308822"/>
          </a:xfrm>
        </p:grpSpPr>
        <p:sp>
          <p:nvSpPr>
            <p:cNvPr name="TextBox 10" id="10"/>
            <p:cNvSpPr txBox="true"/>
            <p:nvPr/>
          </p:nvSpPr>
          <p:spPr>
            <a:xfrm rot="0">
              <a:off x="0" y="-19050"/>
              <a:ext cx="7279783" cy="848783"/>
            </a:xfrm>
            <a:prstGeom prst="rect">
              <a:avLst/>
            </a:prstGeom>
          </p:spPr>
          <p:txBody>
            <a:bodyPr anchor="t" rtlCol="false" tIns="0" lIns="0" bIns="0" rIns="0">
              <a:spAutoFit/>
            </a:bodyPr>
            <a:lstStyle/>
            <a:p>
              <a:pPr algn="l" marL="0" indent="0" lvl="0">
                <a:lnSpc>
                  <a:spcPts val="2600"/>
                </a:lnSpc>
                <a:spcBef>
                  <a:spcPct val="0"/>
                </a:spcBef>
              </a:pPr>
              <a:r>
                <a:rPr lang="en-US" b="true" sz="2000">
                  <a:solidFill>
                    <a:srgbClr val="000000"/>
                  </a:solidFill>
                  <a:latin typeface="Garet Bold"/>
                  <a:ea typeface="Garet Bold"/>
                  <a:cs typeface="Garet Bold"/>
                  <a:sym typeface="Garet Bold"/>
                </a:rPr>
                <a:t>Best price → Look bottom-left or bottom-middle</a:t>
              </a:r>
            </a:p>
          </p:txBody>
        </p:sp>
        <p:sp>
          <p:nvSpPr>
            <p:cNvPr name="TextBox 11" id="11"/>
            <p:cNvSpPr txBox="true"/>
            <p:nvPr/>
          </p:nvSpPr>
          <p:spPr>
            <a:xfrm rot="0">
              <a:off x="0" y="948826"/>
              <a:ext cx="7279783" cy="3359997"/>
            </a:xfrm>
            <a:prstGeom prst="rect">
              <a:avLst/>
            </a:prstGeom>
          </p:spPr>
          <p:txBody>
            <a:bodyPr anchor="t" rtlCol="false" tIns="0" lIns="0" bIns="0" rIns="0">
              <a:spAutoFit/>
            </a:bodyPr>
            <a:lstStyle/>
            <a:p>
              <a:pPr algn="just" marL="0" indent="0" lvl="0">
                <a:lnSpc>
                  <a:spcPts val="2859"/>
                </a:lnSpc>
                <a:spcBef>
                  <a:spcPct val="0"/>
                </a:spcBef>
              </a:pPr>
              <a:r>
                <a:rPr lang="en-US" sz="2199">
                  <a:solidFill>
                    <a:srgbClr val="000000"/>
                  </a:solidFill>
                  <a:latin typeface="Garet"/>
                  <a:ea typeface="Garet"/>
                  <a:cs typeface="Garet"/>
                  <a:sym typeface="Garet"/>
                </a:rPr>
                <a:t>The closer a ZIP code is to the regional center, the more expensive it tends to be. The best value for Nicole’s budget comes from ZIP codes in the lower-middle area of the chart — good locations at more affordable prices.</a:t>
              </a:r>
            </a:p>
          </p:txBody>
        </p:sp>
      </p:grpSp>
      <p:sp>
        <p:nvSpPr>
          <p:cNvPr name="TextBox 12" id="12"/>
          <p:cNvSpPr txBox="true"/>
          <p:nvPr/>
        </p:nvSpPr>
        <p:spPr>
          <a:xfrm rot="0">
            <a:off x="12828163" y="7821522"/>
            <a:ext cx="5339800" cy="1480185"/>
          </a:xfrm>
          <a:prstGeom prst="rect">
            <a:avLst/>
          </a:prstGeom>
        </p:spPr>
        <p:txBody>
          <a:bodyPr anchor="t" rtlCol="false" tIns="0" lIns="0" bIns="0" rIns="0">
            <a:spAutoFit/>
          </a:bodyPr>
          <a:lstStyle/>
          <a:p>
            <a:pPr algn="just">
              <a:lnSpc>
                <a:spcPts val="2939"/>
              </a:lnSpc>
              <a:spcBef>
                <a:spcPct val="0"/>
              </a:spcBef>
            </a:pPr>
            <a:r>
              <a:rPr lang="en-US" b="true" sz="2099">
                <a:solidFill>
                  <a:srgbClr val="000000"/>
                </a:solidFill>
                <a:latin typeface="Garet Bold"/>
                <a:ea typeface="Garet Bold"/>
                <a:cs typeface="Garet Bold"/>
                <a:sym typeface="Garet Bold"/>
              </a:rPr>
              <a:t>Balanced choice → Middle of the chart</a:t>
            </a:r>
          </a:p>
          <a:p>
            <a:pPr algn="just">
              <a:lnSpc>
                <a:spcPts val="2939"/>
              </a:lnSpc>
              <a:spcBef>
                <a:spcPct val="0"/>
              </a:spcBef>
            </a:pPr>
            <a:r>
              <a:rPr lang="en-US" sz="2099">
                <a:solidFill>
                  <a:srgbClr val="000000"/>
                </a:solidFill>
                <a:latin typeface="Garet"/>
                <a:ea typeface="Garet"/>
                <a:cs typeface="Garet"/>
                <a:sym typeface="Garet"/>
              </a:rPr>
              <a:t>Moderate price + moderate distance</a:t>
            </a:r>
          </a:p>
          <a:p>
            <a:pPr algn="just">
              <a:lnSpc>
                <a:spcPts val="2939"/>
              </a:lnSpc>
              <a:spcBef>
                <a:spcPct val="0"/>
              </a:spcBef>
            </a:pPr>
            <a:r>
              <a:rPr lang="en-US" sz="2099">
                <a:solidFill>
                  <a:srgbClr val="000000"/>
                </a:solidFill>
                <a:latin typeface="Garet"/>
                <a:ea typeface="Garet"/>
                <a:cs typeface="Garet"/>
                <a:sym typeface="Garet"/>
              </a:rPr>
              <a:t>Where most ZIPs cluster — good for practical buyers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452026" y="619050"/>
            <a:ext cx="13791493" cy="7582776"/>
          </a:xfrm>
          <a:custGeom>
            <a:avLst/>
            <a:gdLst/>
            <a:ahLst/>
            <a:cxnLst/>
            <a:rect r="r" b="b" t="t" l="l"/>
            <a:pathLst>
              <a:path h="7582776" w="13791493">
                <a:moveTo>
                  <a:pt x="0" y="0"/>
                </a:moveTo>
                <a:lnTo>
                  <a:pt x="13791493" y="0"/>
                </a:lnTo>
                <a:lnTo>
                  <a:pt x="13791493" y="7582777"/>
                </a:lnTo>
                <a:lnTo>
                  <a:pt x="0" y="7582777"/>
                </a:lnTo>
                <a:lnTo>
                  <a:pt x="0" y="0"/>
                </a:lnTo>
                <a:close/>
              </a:path>
            </a:pathLst>
          </a:custGeom>
          <a:blipFill>
            <a:blip r:embed="rId3"/>
            <a:stretch>
              <a:fillRect l="0" t="0" r="0" b="0"/>
            </a:stretch>
          </a:blipFill>
        </p:spPr>
      </p:sp>
      <p:sp>
        <p:nvSpPr>
          <p:cNvPr name="TextBox 4" id="4"/>
          <p:cNvSpPr txBox="true"/>
          <p:nvPr/>
        </p:nvSpPr>
        <p:spPr>
          <a:xfrm rot="0">
            <a:off x="452026" y="35243"/>
            <a:ext cx="8115300" cy="466725"/>
          </a:xfrm>
          <a:prstGeom prst="rect">
            <a:avLst/>
          </a:prstGeom>
        </p:spPr>
        <p:txBody>
          <a:bodyPr anchor="t" rtlCol="false" tIns="0" lIns="0" bIns="0" rIns="0">
            <a:spAutoFit/>
          </a:bodyPr>
          <a:lstStyle/>
          <a:p>
            <a:pPr algn="l">
              <a:lnSpc>
                <a:spcPts val="3600"/>
              </a:lnSpc>
            </a:pPr>
            <a:r>
              <a:rPr lang="en-US" sz="3000">
                <a:solidFill>
                  <a:srgbClr val="000000"/>
                </a:solidFill>
                <a:latin typeface="Archivo Black"/>
                <a:ea typeface="Archivo Black"/>
                <a:cs typeface="Archivo Black"/>
                <a:sym typeface="Archivo Black"/>
              </a:rPr>
              <a:t>Suggestion 3:</a:t>
            </a:r>
          </a:p>
        </p:txBody>
      </p:sp>
      <p:sp>
        <p:nvSpPr>
          <p:cNvPr name="TextBox 5" id="5"/>
          <p:cNvSpPr txBox="true"/>
          <p:nvPr/>
        </p:nvSpPr>
        <p:spPr>
          <a:xfrm rot="0">
            <a:off x="14243519" y="66675"/>
            <a:ext cx="37114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09/14</a:t>
            </a:r>
          </a:p>
        </p:txBody>
      </p:sp>
      <p:sp>
        <p:nvSpPr>
          <p:cNvPr name="TextBox 6" id="6"/>
          <p:cNvSpPr txBox="true"/>
          <p:nvPr/>
        </p:nvSpPr>
        <p:spPr>
          <a:xfrm rot="0">
            <a:off x="14393115" y="403860"/>
            <a:ext cx="3894885" cy="9314815"/>
          </a:xfrm>
          <a:prstGeom prst="rect">
            <a:avLst/>
          </a:prstGeom>
        </p:spPr>
        <p:txBody>
          <a:bodyPr anchor="t" rtlCol="false" tIns="0" lIns="0" bIns="0" rIns="0">
            <a:spAutoFit/>
          </a:bodyPr>
          <a:lstStyle/>
          <a:p>
            <a:pPr algn="ctr">
              <a:lnSpc>
                <a:spcPts val="2659"/>
              </a:lnSpc>
              <a:spcBef>
                <a:spcPct val="0"/>
              </a:spcBef>
            </a:pPr>
            <a:r>
              <a:rPr lang="en-US" b="true" sz="1899">
                <a:solidFill>
                  <a:srgbClr val="000000"/>
                </a:solidFill>
                <a:latin typeface="Garet Bold"/>
                <a:ea typeface="Garet Bold"/>
                <a:cs typeface="Garet Bold"/>
                <a:sym typeface="Garet Bold"/>
              </a:rPr>
              <a:t>🏠 House A – Spacious &amp; Best Overall Value (ZIP 98168)</a:t>
            </a:r>
          </a:p>
          <a:p>
            <a:pPr algn="ctr">
              <a:lnSpc>
                <a:spcPts val="2659"/>
              </a:lnSpc>
              <a:spcBef>
                <a:spcPct val="0"/>
              </a:spcBef>
            </a:pPr>
            <a:r>
              <a:rPr lang="en-US" b="true" sz="1899">
                <a:solidFill>
                  <a:srgbClr val="000000"/>
                </a:solidFill>
                <a:latin typeface="Garet Bold"/>
                <a:ea typeface="Garet Bold"/>
                <a:cs typeface="Garet Bold"/>
                <a:sym typeface="Garet Bold"/>
              </a:rPr>
              <a:t>ID: 797000258, Price: $350,000</a:t>
            </a:r>
          </a:p>
          <a:p>
            <a:pPr algn="ctr">
              <a:lnSpc>
                <a:spcPts val="2659"/>
              </a:lnSpc>
              <a:spcBef>
                <a:spcPct val="0"/>
              </a:spcBef>
            </a:pPr>
            <a:r>
              <a:rPr lang="en-US" sz="1899">
                <a:solidFill>
                  <a:srgbClr val="000000"/>
                </a:solidFill>
                <a:latin typeface="Garet"/>
                <a:ea typeface="Garet"/>
                <a:cs typeface="Garet"/>
                <a:sym typeface="Garet"/>
              </a:rPr>
              <a:t>This home offers exceptional living space at an outstanding price.”</a:t>
            </a:r>
          </a:p>
          <a:p>
            <a:pPr algn="ctr">
              <a:lnSpc>
                <a:spcPts val="2659"/>
              </a:lnSpc>
              <a:spcBef>
                <a:spcPct val="0"/>
              </a:spcBef>
            </a:pPr>
            <a:r>
              <a:rPr lang="en-US" sz="1899">
                <a:solidFill>
                  <a:srgbClr val="000000"/>
                </a:solidFill>
                <a:latin typeface="Garet"/>
                <a:ea typeface="Garet"/>
                <a:cs typeface="Garet"/>
                <a:sym typeface="Garet"/>
              </a:rPr>
              <a:t>2 bedrooms, 2 full baths + one ¾ bath</a:t>
            </a:r>
          </a:p>
          <a:p>
            <a:pPr algn="ctr">
              <a:lnSpc>
                <a:spcPts val="2659"/>
              </a:lnSpc>
              <a:spcBef>
                <a:spcPct val="0"/>
              </a:spcBef>
            </a:pPr>
            <a:r>
              <a:rPr lang="en-US" sz="1899">
                <a:solidFill>
                  <a:srgbClr val="000000"/>
                </a:solidFill>
                <a:latin typeface="Garet"/>
                <a:ea typeface="Garet"/>
                <a:cs typeface="Garet"/>
                <a:sym typeface="Garet"/>
              </a:rPr>
              <a:t>2,820 sqft of living space — the largest of all recommendations</a:t>
            </a:r>
          </a:p>
          <a:p>
            <a:pPr algn="ctr">
              <a:lnSpc>
                <a:spcPts val="2659"/>
              </a:lnSpc>
              <a:spcBef>
                <a:spcPct val="0"/>
              </a:spcBef>
            </a:pPr>
            <a:r>
              <a:rPr lang="en-US" sz="1899">
                <a:solidFill>
                  <a:srgbClr val="000000"/>
                </a:solidFill>
                <a:latin typeface="Garet"/>
                <a:ea typeface="Garet"/>
                <a:cs typeface="Garet"/>
                <a:sym typeface="Garet"/>
              </a:rPr>
              <a:t>Built in 1947 , not renovated, but well-maintained and offers strong potential for future upgrades</a:t>
            </a:r>
          </a:p>
          <a:p>
            <a:pPr algn="ctr">
              <a:lnSpc>
                <a:spcPts val="2659"/>
              </a:lnSpc>
              <a:spcBef>
                <a:spcPct val="0"/>
              </a:spcBef>
            </a:pPr>
            <a:r>
              <a:rPr lang="en-US" sz="1899">
                <a:solidFill>
                  <a:srgbClr val="000000"/>
                </a:solidFill>
                <a:latin typeface="Garet"/>
                <a:ea typeface="Garet"/>
                <a:cs typeface="Garet"/>
                <a:sym typeface="Garet"/>
              </a:rPr>
              <a:t>Large lot (11,770 sqft) offering privacy, gardening space, and outdoor possibilities</a:t>
            </a:r>
          </a:p>
          <a:p>
            <a:pPr algn="ctr">
              <a:lnSpc>
                <a:spcPts val="2659"/>
              </a:lnSpc>
              <a:spcBef>
                <a:spcPct val="0"/>
              </a:spcBef>
            </a:pPr>
            <a:r>
              <a:rPr lang="en-US" sz="1899">
                <a:solidFill>
                  <a:srgbClr val="000000"/>
                </a:solidFill>
                <a:latin typeface="Garet"/>
                <a:ea typeface="Garet"/>
                <a:cs typeface="Garet"/>
                <a:sym typeface="Garet"/>
              </a:rPr>
              <a:t>Located in a budget-friendly neighborhood with great access to Seattle</a:t>
            </a:r>
          </a:p>
          <a:p>
            <a:pPr algn="ctr">
              <a:lnSpc>
                <a:spcPts val="2659"/>
              </a:lnSpc>
              <a:spcBef>
                <a:spcPct val="0"/>
              </a:spcBef>
            </a:pPr>
            <a:r>
              <a:rPr lang="en-US" sz="1899">
                <a:solidFill>
                  <a:srgbClr val="000000"/>
                </a:solidFill>
                <a:latin typeface="Garet"/>
                <a:ea typeface="Garet"/>
                <a:cs typeface="Garet"/>
                <a:sym typeface="Garet"/>
              </a:rPr>
              <a:t>Why it’s great for Nicole:</a:t>
            </a:r>
          </a:p>
          <a:p>
            <a:pPr algn="ctr">
              <a:lnSpc>
                <a:spcPts val="2659"/>
              </a:lnSpc>
              <a:spcBef>
                <a:spcPct val="0"/>
              </a:spcBef>
            </a:pPr>
            <a:r>
              <a:rPr lang="en-US" sz="1899">
                <a:solidFill>
                  <a:srgbClr val="000000"/>
                </a:solidFill>
                <a:latin typeface="Garet"/>
                <a:ea typeface="Garet"/>
                <a:cs typeface="Garet"/>
                <a:sym typeface="Garet"/>
              </a:rPr>
              <a:t> This home gives Nicole a huge amount of space for a mid-range price, making it perfect if she wants comfort, room to grow, or space to host guests. The lot size and floorplan give great long-term potential.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574375" y="501968"/>
            <a:ext cx="14003899" cy="7691869"/>
          </a:xfrm>
          <a:custGeom>
            <a:avLst/>
            <a:gdLst/>
            <a:ahLst/>
            <a:cxnLst/>
            <a:rect r="r" b="b" t="t" l="l"/>
            <a:pathLst>
              <a:path h="7691869" w="14003899">
                <a:moveTo>
                  <a:pt x="0" y="0"/>
                </a:moveTo>
                <a:lnTo>
                  <a:pt x="14003899" y="0"/>
                </a:lnTo>
                <a:lnTo>
                  <a:pt x="14003899" y="7691868"/>
                </a:lnTo>
                <a:lnTo>
                  <a:pt x="0" y="7691868"/>
                </a:lnTo>
                <a:lnTo>
                  <a:pt x="0" y="0"/>
                </a:lnTo>
                <a:close/>
              </a:path>
            </a:pathLst>
          </a:custGeom>
          <a:blipFill>
            <a:blip r:embed="rId3"/>
            <a:stretch>
              <a:fillRect l="0" t="0" r="0" b="0"/>
            </a:stretch>
          </a:blipFill>
        </p:spPr>
      </p:sp>
      <p:sp>
        <p:nvSpPr>
          <p:cNvPr name="TextBox 4" id="4"/>
          <p:cNvSpPr txBox="true"/>
          <p:nvPr/>
        </p:nvSpPr>
        <p:spPr>
          <a:xfrm rot="0">
            <a:off x="452026" y="35243"/>
            <a:ext cx="13525077" cy="466725"/>
          </a:xfrm>
          <a:prstGeom prst="rect">
            <a:avLst/>
          </a:prstGeom>
        </p:spPr>
        <p:txBody>
          <a:bodyPr anchor="t" rtlCol="false" tIns="0" lIns="0" bIns="0" rIns="0">
            <a:spAutoFit/>
          </a:bodyPr>
          <a:lstStyle/>
          <a:p>
            <a:pPr algn="l">
              <a:lnSpc>
                <a:spcPts val="3600"/>
              </a:lnSpc>
            </a:pPr>
            <a:r>
              <a:rPr lang="en-US" sz="3000">
                <a:solidFill>
                  <a:srgbClr val="000000"/>
                </a:solidFill>
                <a:latin typeface="Archivo Black"/>
                <a:ea typeface="Archivo Black"/>
                <a:cs typeface="Archivo Black"/>
                <a:sym typeface="Archivo Black"/>
              </a:rPr>
              <a:t>Suggestion 1:</a:t>
            </a:r>
          </a:p>
        </p:txBody>
      </p:sp>
      <p:sp>
        <p:nvSpPr>
          <p:cNvPr name="TextBox 5" id="5"/>
          <p:cNvSpPr txBox="true"/>
          <p:nvPr/>
        </p:nvSpPr>
        <p:spPr>
          <a:xfrm rot="0">
            <a:off x="14277190" y="136207"/>
            <a:ext cx="37114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10/14</a:t>
            </a:r>
          </a:p>
        </p:txBody>
      </p:sp>
      <p:sp>
        <p:nvSpPr>
          <p:cNvPr name="TextBox 6" id="6"/>
          <p:cNvSpPr txBox="true"/>
          <p:nvPr/>
        </p:nvSpPr>
        <p:spPr>
          <a:xfrm rot="0">
            <a:off x="14877602" y="473393"/>
            <a:ext cx="3410398" cy="964819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Garet"/>
                <a:ea typeface="Garet"/>
                <a:cs typeface="Garet"/>
                <a:sym typeface="Garet"/>
              </a:rPr>
              <a:t>🏠</a:t>
            </a:r>
            <a:r>
              <a:rPr lang="en-US" b="true" sz="1899">
                <a:solidFill>
                  <a:srgbClr val="000000"/>
                </a:solidFill>
                <a:latin typeface="Garet Bold"/>
                <a:ea typeface="Garet Bold"/>
                <a:cs typeface="Garet Bold"/>
                <a:sym typeface="Garet Bold"/>
              </a:rPr>
              <a:t> House B – Best Family Layout, Great Price for Its Size (ZIP 98168)</a:t>
            </a:r>
          </a:p>
          <a:p>
            <a:pPr algn="ctr">
              <a:lnSpc>
                <a:spcPts val="2659"/>
              </a:lnSpc>
              <a:spcBef>
                <a:spcPct val="0"/>
              </a:spcBef>
            </a:pPr>
            <a:r>
              <a:rPr lang="en-US" b="true" sz="1899">
                <a:solidFill>
                  <a:srgbClr val="000000"/>
                </a:solidFill>
                <a:latin typeface="Garet Bold"/>
                <a:ea typeface="Garet Bold"/>
                <a:cs typeface="Garet Bold"/>
                <a:sym typeface="Garet Bold"/>
              </a:rPr>
              <a:t>ID: 6433000050, Price: $350,000</a:t>
            </a:r>
          </a:p>
          <a:p>
            <a:pPr algn="ctr">
              <a:lnSpc>
                <a:spcPts val="2659"/>
              </a:lnSpc>
              <a:spcBef>
                <a:spcPct val="0"/>
              </a:spcBef>
            </a:pPr>
            <a:r>
              <a:rPr lang="en-US" sz="1899">
                <a:solidFill>
                  <a:srgbClr val="000000"/>
                </a:solidFill>
                <a:latin typeface="Garet"/>
                <a:ea typeface="Garet"/>
                <a:cs typeface="Garet"/>
                <a:sym typeface="Garet"/>
              </a:rPr>
              <a:t>4 bedrooms, 2 bathrooms</a:t>
            </a:r>
          </a:p>
          <a:p>
            <a:pPr algn="ctr">
              <a:lnSpc>
                <a:spcPts val="2659"/>
              </a:lnSpc>
              <a:spcBef>
                <a:spcPct val="0"/>
              </a:spcBef>
            </a:pPr>
            <a:r>
              <a:rPr lang="en-US" sz="1899">
                <a:solidFill>
                  <a:srgbClr val="000000"/>
                </a:solidFill>
                <a:latin typeface="Garet"/>
                <a:ea typeface="Garet"/>
                <a:cs typeface="Garet"/>
                <a:sym typeface="Garet"/>
              </a:rPr>
              <a:t>2,740 sqft of living space — generous for families or shared living</a:t>
            </a:r>
          </a:p>
          <a:p>
            <a:pPr algn="ctr">
              <a:lnSpc>
                <a:spcPts val="2659"/>
              </a:lnSpc>
              <a:spcBef>
                <a:spcPct val="0"/>
              </a:spcBef>
            </a:pPr>
            <a:r>
              <a:rPr lang="en-US" sz="1899">
                <a:solidFill>
                  <a:srgbClr val="000000"/>
                </a:solidFill>
                <a:latin typeface="Garet"/>
                <a:ea typeface="Garet"/>
                <a:cs typeface="Garet"/>
                <a:sym typeface="Garet"/>
              </a:rPr>
              <a:t>Built in 1972</a:t>
            </a:r>
          </a:p>
          <a:p>
            <a:pPr algn="ctr">
              <a:lnSpc>
                <a:spcPts val="2659"/>
              </a:lnSpc>
              <a:spcBef>
                <a:spcPct val="0"/>
              </a:spcBef>
            </a:pPr>
            <a:r>
              <a:rPr lang="en-US" sz="1899">
                <a:solidFill>
                  <a:srgbClr val="000000"/>
                </a:solidFill>
                <a:latin typeface="Garet"/>
                <a:ea typeface="Garet"/>
                <a:cs typeface="Garet"/>
                <a:sym typeface="Garet"/>
              </a:rPr>
              <a:t>Not renovated, but structurally newer than most homes in this price segment</a:t>
            </a:r>
          </a:p>
          <a:p>
            <a:pPr algn="ctr">
              <a:lnSpc>
                <a:spcPts val="2659"/>
              </a:lnSpc>
              <a:spcBef>
                <a:spcPct val="0"/>
              </a:spcBef>
            </a:pPr>
            <a:r>
              <a:rPr lang="en-US" sz="1899">
                <a:solidFill>
                  <a:srgbClr val="000000"/>
                </a:solidFill>
                <a:latin typeface="Garet"/>
                <a:ea typeface="Garet"/>
                <a:cs typeface="Garet"/>
                <a:sym typeface="Garet"/>
              </a:rPr>
              <a:t>Large lot (10,086 sqft) offering a balance between outdoor space and low maintenance</a:t>
            </a:r>
          </a:p>
          <a:p>
            <a:pPr algn="ctr">
              <a:lnSpc>
                <a:spcPts val="2659"/>
              </a:lnSpc>
              <a:spcBef>
                <a:spcPct val="0"/>
              </a:spcBef>
            </a:pPr>
            <a:r>
              <a:rPr lang="en-US" sz="1899">
                <a:solidFill>
                  <a:srgbClr val="000000"/>
                </a:solidFill>
                <a:latin typeface="Garet"/>
                <a:ea typeface="Garet"/>
                <a:cs typeface="Garet"/>
                <a:sym typeface="Garet"/>
              </a:rPr>
              <a:t>Located in the same affordable central-south cluster</a:t>
            </a:r>
          </a:p>
          <a:p>
            <a:pPr algn="ctr">
              <a:lnSpc>
                <a:spcPts val="2659"/>
              </a:lnSpc>
              <a:spcBef>
                <a:spcPct val="0"/>
              </a:spcBef>
            </a:pPr>
            <a:r>
              <a:rPr lang="en-US" sz="1899">
                <a:solidFill>
                  <a:srgbClr val="000000"/>
                </a:solidFill>
                <a:latin typeface="Garet"/>
                <a:ea typeface="Garet"/>
                <a:cs typeface="Garet"/>
                <a:sym typeface="Garet"/>
              </a:rPr>
              <a:t>Why it’s great for Nicole:</a:t>
            </a:r>
          </a:p>
          <a:p>
            <a:pPr algn="ctr">
              <a:lnSpc>
                <a:spcPts val="2659"/>
              </a:lnSpc>
              <a:spcBef>
                <a:spcPct val="0"/>
              </a:spcBef>
            </a:pPr>
            <a:r>
              <a:rPr lang="en-US" sz="1899">
                <a:solidFill>
                  <a:srgbClr val="000000"/>
                </a:solidFill>
                <a:latin typeface="Garet"/>
                <a:ea typeface="Garet"/>
                <a:cs typeface="Garet"/>
                <a:sym typeface="Garet"/>
              </a:rPr>
              <a:t> If Nicole wants more rooms — for guests, office space, hobbies, or future flexibility — this home is a perfect fit while still staying well within her mid-range budget.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452026" y="682144"/>
            <a:ext cx="13095792" cy="7250074"/>
          </a:xfrm>
          <a:custGeom>
            <a:avLst/>
            <a:gdLst/>
            <a:ahLst/>
            <a:cxnLst/>
            <a:rect r="r" b="b" t="t" l="l"/>
            <a:pathLst>
              <a:path h="7250074" w="13095792">
                <a:moveTo>
                  <a:pt x="0" y="0"/>
                </a:moveTo>
                <a:lnTo>
                  <a:pt x="13095792" y="0"/>
                </a:lnTo>
                <a:lnTo>
                  <a:pt x="13095792" y="7250074"/>
                </a:lnTo>
                <a:lnTo>
                  <a:pt x="0" y="7250074"/>
                </a:lnTo>
                <a:lnTo>
                  <a:pt x="0" y="0"/>
                </a:lnTo>
                <a:close/>
              </a:path>
            </a:pathLst>
          </a:custGeom>
          <a:blipFill>
            <a:blip r:embed="rId3"/>
            <a:stretch>
              <a:fillRect l="0" t="0" r="0" b="0"/>
            </a:stretch>
          </a:blipFill>
        </p:spPr>
      </p:sp>
      <p:sp>
        <p:nvSpPr>
          <p:cNvPr name="TextBox 4" id="4"/>
          <p:cNvSpPr txBox="true"/>
          <p:nvPr/>
        </p:nvSpPr>
        <p:spPr>
          <a:xfrm rot="0">
            <a:off x="452026" y="35243"/>
            <a:ext cx="8115300" cy="466725"/>
          </a:xfrm>
          <a:prstGeom prst="rect">
            <a:avLst/>
          </a:prstGeom>
        </p:spPr>
        <p:txBody>
          <a:bodyPr anchor="t" rtlCol="false" tIns="0" lIns="0" bIns="0" rIns="0">
            <a:spAutoFit/>
          </a:bodyPr>
          <a:lstStyle/>
          <a:p>
            <a:pPr algn="l">
              <a:lnSpc>
                <a:spcPts val="3600"/>
              </a:lnSpc>
            </a:pPr>
            <a:r>
              <a:rPr lang="en-US" sz="3000">
                <a:solidFill>
                  <a:srgbClr val="000000"/>
                </a:solidFill>
                <a:latin typeface="Archivo Black"/>
                <a:ea typeface="Archivo Black"/>
                <a:cs typeface="Archivo Black"/>
                <a:sym typeface="Archivo Black"/>
              </a:rPr>
              <a:t>Suggestion 2:</a:t>
            </a:r>
          </a:p>
        </p:txBody>
      </p:sp>
      <p:sp>
        <p:nvSpPr>
          <p:cNvPr name="TextBox 5" id="5"/>
          <p:cNvSpPr txBox="true"/>
          <p:nvPr/>
        </p:nvSpPr>
        <p:spPr>
          <a:xfrm rot="0">
            <a:off x="14377615" y="225743"/>
            <a:ext cx="37114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11/14</a:t>
            </a:r>
          </a:p>
        </p:txBody>
      </p:sp>
      <p:sp>
        <p:nvSpPr>
          <p:cNvPr name="TextBox 6" id="6"/>
          <p:cNvSpPr txBox="true"/>
          <p:nvPr/>
        </p:nvSpPr>
        <p:spPr>
          <a:xfrm rot="0">
            <a:off x="13832799" y="634519"/>
            <a:ext cx="4256298" cy="7795260"/>
          </a:xfrm>
          <a:prstGeom prst="rect">
            <a:avLst/>
          </a:prstGeom>
        </p:spPr>
        <p:txBody>
          <a:bodyPr anchor="t" rtlCol="false" tIns="0" lIns="0" bIns="0" rIns="0">
            <a:spAutoFit/>
          </a:bodyPr>
          <a:lstStyle/>
          <a:p>
            <a:pPr algn="ctr">
              <a:lnSpc>
                <a:spcPts val="2939"/>
              </a:lnSpc>
              <a:spcBef>
                <a:spcPct val="0"/>
              </a:spcBef>
            </a:pPr>
            <a:r>
              <a:rPr lang="en-US" b="true" sz="2099">
                <a:solidFill>
                  <a:srgbClr val="000000"/>
                </a:solidFill>
                <a:latin typeface="Garet Bold"/>
                <a:ea typeface="Garet Bold"/>
                <a:cs typeface="Garet Bold"/>
                <a:sym typeface="Garet Bold"/>
              </a:rPr>
              <a:t>🏠 House C – Best Location &amp; </a:t>
            </a:r>
            <a:r>
              <a:rPr lang="en-US" sz="2099">
                <a:solidFill>
                  <a:srgbClr val="000000"/>
                </a:solidFill>
                <a:latin typeface="Garet"/>
                <a:ea typeface="Garet"/>
                <a:cs typeface="Garet"/>
                <a:sym typeface="Garet"/>
              </a:rPr>
              <a:t>Most Bedrooms (ZIP 98106)</a:t>
            </a:r>
          </a:p>
          <a:p>
            <a:pPr algn="ctr">
              <a:lnSpc>
                <a:spcPts val="2939"/>
              </a:lnSpc>
              <a:spcBef>
                <a:spcPct val="0"/>
              </a:spcBef>
            </a:pPr>
            <a:r>
              <a:rPr lang="en-US" sz="2099">
                <a:solidFill>
                  <a:srgbClr val="000000"/>
                </a:solidFill>
                <a:latin typeface="Garet"/>
                <a:ea typeface="Garet"/>
                <a:cs typeface="Garet"/>
                <a:sym typeface="Garet"/>
              </a:rPr>
              <a:t>ID: 1773100620, Price: $350,000</a:t>
            </a:r>
          </a:p>
          <a:p>
            <a:pPr algn="ctr">
              <a:lnSpc>
                <a:spcPts val="2939"/>
              </a:lnSpc>
              <a:spcBef>
                <a:spcPct val="0"/>
              </a:spcBef>
            </a:pPr>
            <a:r>
              <a:rPr lang="en-US" sz="2099">
                <a:solidFill>
                  <a:srgbClr val="000000"/>
                </a:solidFill>
                <a:latin typeface="Garet"/>
                <a:ea typeface="Garet"/>
                <a:cs typeface="Garet"/>
                <a:sym typeface="Garet"/>
              </a:rPr>
              <a:t>A vibrant and central West-Seattle neighborhood.”</a:t>
            </a:r>
          </a:p>
          <a:p>
            <a:pPr algn="ctr">
              <a:lnSpc>
                <a:spcPts val="2939"/>
              </a:lnSpc>
              <a:spcBef>
                <a:spcPct val="0"/>
              </a:spcBef>
            </a:pPr>
            <a:r>
              <a:rPr lang="en-US" sz="2099">
                <a:solidFill>
                  <a:srgbClr val="000000"/>
                </a:solidFill>
                <a:latin typeface="Garet"/>
                <a:ea typeface="Garet"/>
                <a:cs typeface="Garet"/>
                <a:sym typeface="Garet"/>
              </a:rPr>
              <a:t>5 bedrooms, 3 bathrooms</a:t>
            </a:r>
          </a:p>
          <a:p>
            <a:pPr algn="ctr">
              <a:lnSpc>
                <a:spcPts val="2939"/>
              </a:lnSpc>
              <a:spcBef>
                <a:spcPct val="0"/>
              </a:spcBef>
            </a:pPr>
            <a:r>
              <a:rPr lang="en-US" sz="2099">
                <a:solidFill>
                  <a:srgbClr val="000000"/>
                </a:solidFill>
                <a:latin typeface="Garet"/>
                <a:ea typeface="Garet"/>
                <a:cs typeface="Garet"/>
                <a:sym typeface="Garet"/>
              </a:rPr>
              <a:t>2,320 sqft of living space</a:t>
            </a:r>
          </a:p>
          <a:p>
            <a:pPr algn="ctr">
              <a:lnSpc>
                <a:spcPts val="2939"/>
              </a:lnSpc>
              <a:spcBef>
                <a:spcPct val="0"/>
              </a:spcBef>
            </a:pPr>
            <a:r>
              <a:rPr lang="en-US" sz="2099">
                <a:solidFill>
                  <a:srgbClr val="000000"/>
                </a:solidFill>
                <a:latin typeface="Garet"/>
                <a:ea typeface="Garet"/>
                <a:cs typeface="Garet"/>
                <a:sym typeface="Garet"/>
              </a:rPr>
              <a:t>Built in 1963</a:t>
            </a:r>
          </a:p>
          <a:p>
            <a:pPr algn="ctr">
              <a:lnSpc>
                <a:spcPts val="2939"/>
              </a:lnSpc>
              <a:spcBef>
                <a:spcPct val="0"/>
              </a:spcBef>
            </a:pPr>
            <a:r>
              <a:rPr lang="en-US" sz="2099">
                <a:solidFill>
                  <a:srgbClr val="000000"/>
                </a:solidFill>
                <a:latin typeface="Garet"/>
                <a:ea typeface="Garet"/>
                <a:cs typeface="Garet"/>
                <a:sym typeface="Garet"/>
              </a:rPr>
              <a:t>Not renovated, but has a very functional layout and strong potential for updates</a:t>
            </a:r>
          </a:p>
          <a:p>
            <a:pPr algn="ctr">
              <a:lnSpc>
                <a:spcPts val="2939"/>
              </a:lnSpc>
              <a:spcBef>
                <a:spcPct val="0"/>
              </a:spcBef>
            </a:pPr>
            <a:r>
              <a:rPr lang="en-US" sz="2099">
                <a:solidFill>
                  <a:srgbClr val="000000"/>
                </a:solidFill>
                <a:latin typeface="Garet"/>
                <a:ea typeface="Garet"/>
                <a:cs typeface="Garet"/>
                <a:sym typeface="Garet"/>
              </a:rPr>
              <a:t>Good-sized lot (8,400 sqft)</a:t>
            </a:r>
          </a:p>
          <a:p>
            <a:pPr algn="ctr">
              <a:lnSpc>
                <a:spcPts val="2939"/>
              </a:lnSpc>
              <a:spcBef>
                <a:spcPct val="0"/>
              </a:spcBef>
            </a:pPr>
            <a:r>
              <a:rPr lang="en-US" sz="2099">
                <a:solidFill>
                  <a:srgbClr val="000000"/>
                </a:solidFill>
                <a:latin typeface="Garet"/>
                <a:ea typeface="Garet"/>
                <a:cs typeface="Garet"/>
                <a:sym typeface="Garet"/>
              </a:rPr>
              <a:t>Why it’s great for Nicole:</a:t>
            </a:r>
          </a:p>
          <a:p>
            <a:pPr algn="ctr">
              <a:lnSpc>
                <a:spcPts val="2939"/>
              </a:lnSpc>
              <a:spcBef>
                <a:spcPct val="0"/>
              </a:spcBef>
            </a:pPr>
            <a:r>
              <a:rPr lang="en-US" sz="2099">
                <a:solidFill>
                  <a:srgbClr val="000000"/>
                </a:solidFill>
                <a:latin typeface="Garet"/>
                <a:ea typeface="Garet"/>
                <a:cs typeface="Garet"/>
                <a:sym typeface="Garet"/>
              </a:rPr>
              <a:t> This house is perfect if Nicole prefers a more lively and community-oriented area while needing more rooms for flexibility. It offers the most bedrooms and sits in the ZIP code that best matches her lifestyle priorities.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7471416" y="2638030"/>
            <a:ext cx="3996158" cy="6309360"/>
          </a:xfrm>
          <a:prstGeom prst="rect">
            <a:avLst/>
          </a:prstGeom>
        </p:spPr>
        <p:txBody>
          <a:bodyPr anchor="t" rtlCol="false" tIns="0" lIns="0" bIns="0" rIns="0">
            <a:spAutoFit/>
          </a:bodyPr>
          <a:lstStyle/>
          <a:p>
            <a:pPr algn="just">
              <a:lnSpc>
                <a:spcPts val="2939"/>
              </a:lnSpc>
              <a:spcBef>
                <a:spcPct val="0"/>
              </a:spcBef>
            </a:pPr>
            <a:r>
              <a:rPr lang="en-US" sz="2099">
                <a:solidFill>
                  <a:srgbClr val="000000"/>
                </a:solidFill>
                <a:latin typeface="Garet"/>
                <a:ea typeface="Garet"/>
                <a:cs typeface="Garet"/>
                <a:sym typeface="Garet"/>
              </a:rPr>
              <a:t>Renovated homes are usually more expensive, but</a:t>
            </a:r>
          </a:p>
          <a:p>
            <a:pPr algn="just">
              <a:lnSpc>
                <a:spcPts val="2939"/>
              </a:lnSpc>
              <a:spcBef>
                <a:spcPct val="0"/>
              </a:spcBef>
            </a:pPr>
            <a:r>
              <a:rPr lang="en-US" sz="2099">
                <a:solidFill>
                  <a:srgbClr val="000000"/>
                </a:solidFill>
                <a:latin typeface="Garet"/>
                <a:ea typeface="Garet"/>
                <a:cs typeface="Garet"/>
                <a:sym typeface="Garet"/>
              </a:rPr>
              <a:t>The price difference is not extreme enough to eliminate unrenovated homes from consideration</a:t>
            </a:r>
          </a:p>
          <a:p>
            <a:pPr algn="just">
              <a:lnSpc>
                <a:spcPts val="2939"/>
              </a:lnSpc>
              <a:spcBef>
                <a:spcPct val="0"/>
              </a:spcBef>
            </a:pPr>
            <a:r>
              <a:rPr lang="en-US" sz="2099">
                <a:solidFill>
                  <a:srgbClr val="000000"/>
                </a:solidFill>
                <a:latin typeface="Garet"/>
                <a:ea typeface="Garet"/>
                <a:cs typeface="Garet"/>
                <a:sym typeface="Garet"/>
              </a:rPr>
              <a:t>Many unrenovated homes offer better value per sqft and strong renovation potential</a:t>
            </a:r>
          </a:p>
          <a:p>
            <a:pPr algn="just">
              <a:lnSpc>
                <a:spcPts val="2939"/>
              </a:lnSpc>
              <a:spcBef>
                <a:spcPct val="0"/>
              </a:spcBef>
            </a:pPr>
            <a:r>
              <a:rPr lang="en-US" sz="2099">
                <a:solidFill>
                  <a:srgbClr val="000000"/>
                </a:solidFill>
                <a:latin typeface="Garet"/>
                <a:ea typeface="Garet"/>
                <a:cs typeface="Garet"/>
                <a:sym typeface="Garet"/>
              </a:rPr>
              <a:t>Why it matters for Nicole:</a:t>
            </a:r>
          </a:p>
          <a:p>
            <a:pPr algn="just">
              <a:lnSpc>
                <a:spcPts val="2939"/>
              </a:lnSpc>
              <a:spcBef>
                <a:spcPct val="0"/>
              </a:spcBef>
            </a:pPr>
            <a:r>
              <a:rPr lang="en-US" sz="2099">
                <a:solidFill>
                  <a:srgbClr val="000000"/>
                </a:solidFill>
                <a:latin typeface="Garet"/>
                <a:ea typeface="Garet"/>
                <a:cs typeface="Garet"/>
                <a:sym typeface="Garet"/>
              </a:rPr>
              <a:t> She doesn’t need to restrict her search to renovated homes — unrenovated homes in good locations offer excellent upside and better prices.</a:t>
            </a:r>
          </a:p>
        </p:txBody>
      </p:sp>
      <p:sp>
        <p:nvSpPr>
          <p:cNvPr name="Freeform 4" id="4"/>
          <p:cNvSpPr/>
          <p:nvPr/>
        </p:nvSpPr>
        <p:spPr>
          <a:xfrm flipH="false" flipV="false" rot="0">
            <a:off x="4826339" y="323764"/>
            <a:ext cx="2017086" cy="2017086"/>
          </a:xfrm>
          <a:custGeom>
            <a:avLst/>
            <a:gdLst/>
            <a:ahLst/>
            <a:cxnLst/>
            <a:rect r="r" b="b" t="t" l="l"/>
            <a:pathLst>
              <a:path h="2017086" w="2017086">
                <a:moveTo>
                  <a:pt x="0" y="0"/>
                </a:moveTo>
                <a:lnTo>
                  <a:pt x="2017086" y="0"/>
                </a:lnTo>
                <a:lnTo>
                  <a:pt x="2017086" y="2017086"/>
                </a:lnTo>
                <a:lnTo>
                  <a:pt x="0" y="20170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2684999" y="8858606"/>
            <a:ext cx="1000696" cy="1000696"/>
          </a:xfrm>
          <a:custGeom>
            <a:avLst/>
            <a:gdLst/>
            <a:ahLst/>
            <a:cxnLst/>
            <a:rect r="r" b="b" t="t" l="l"/>
            <a:pathLst>
              <a:path h="1000696" w="1000696">
                <a:moveTo>
                  <a:pt x="0" y="0"/>
                </a:moveTo>
                <a:lnTo>
                  <a:pt x="1000696" y="0"/>
                </a:lnTo>
                <a:lnTo>
                  <a:pt x="1000696" y="1000696"/>
                </a:lnTo>
                <a:lnTo>
                  <a:pt x="0" y="10006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449859" y="1020658"/>
            <a:ext cx="5683548" cy="870159"/>
          </a:xfrm>
          <a:prstGeom prst="rect">
            <a:avLst/>
          </a:prstGeom>
        </p:spPr>
        <p:txBody>
          <a:bodyPr anchor="t" rtlCol="false" tIns="0" lIns="0" bIns="0" rIns="0">
            <a:spAutoFit/>
          </a:bodyPr>
          <a:lstStyle/>
          <a:p>
            <a:pPr algn="l" marL="0" indent="0" lvl="0">
              <a:lnSpc>
                <a:spcPts val="6508"/>
              </a:lnSpc>
              <a:spcBef>
                <a:spcPct val="0"/>
              </a:spcBef>
            </a:pPr>
            <a:r>
              <a:rPr lang="en-US" sz="6508" spc="-514">
                <a:solidFill>
                  <a:srgbClr val="000000"/>
                </a:solidFill>
                <a:latin typeface="Archivo Black"/>
                <a:ea typeface="Archivo Black"/>
                <a:cs typeface="Archivo Black"/>
                <a:sym typeface="Archivo Black"/>
              </a:rPr>
              <a:t>Insights</a:t>
            </a:r>
          </a:p>
        </p:txBody>
      </p:sp>
      <p:sp>
        <p:nvSpPr>
          <p:cNvPr name="TextBox 7" id="7"/>
          <p:cNvSpPr txBox="true"/>
          <p:nvPr/>
        </p:nvSpPr>
        <p:spPr>
          <a:xfrm rot="0">
            <a:off x="13589610" y="981075"/>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12/14</a:t>
            </a:r>
          </a:p>
        </p:txBody>
      </p:sp>
      <p:sp>
        <p:nvSpPr>
          <p:cNvPr name="TextBox 8" id="8"/>
          <p:cNvSpPr txBox="true"/>
          <p:nvPr/>
        </p:nvSpPr>
        <p:spPr>
          <a:xfrm rot="0">
            <a:off x="449859" y="2410780"/>
            <a:ext cx="4021183" cy="737235"/>
          </a:xfrm>
          <a:prstGeom prst="rect">
            <a:avLst/>
          </a:prstGeom>
        </p:spPr>
        <p:txBody>
          <a:bodyPr anchor="t" rtlCol="false" tIns="0" lIns="0" bIns="0" rIns="0">
            <a:spAutoFit/>
          </a:bodyPr>
          <a:lstStyle/>
          <a:p>
            <a:pPr algn="just">
              <a:lnSpc>
                <a:spcPts val="2939"/>
              </a:lnSpc>
              <a:spcBef>
                <a:spcPct val="0"/>
              </a:spcBef>
            </a:pPr>
            <a:r>
              <a:rPr lang="en-US" b="true" sz="2099">
                <a:solidFill>
                  <a:srgbClr val="CE5441"/>
                </a:solidFill>
                <a:latin typeface="Garet Bold"/>
                <a:ea typeface="Garet Bold"/>
                <a:cs typeface="Garet Bold"/>
                <a:sym typeface="Garet Bold"/>
              </a:rPr>
              <a:t>Insight 1 — Location Has the Strongest Impact on Price</a:t>
            </a:r>
          </a:p>
        </p:txBody>
      </p:sp>
      <p:sp>
        <p:nvSpPr>
          <p:cNvPr name="TextBox 9" id="9"/>
          <p:cNvSpPr txBox="true"/>
          <p:nvPr/>
        </p:nvSpPr>
        <p:spPr>
          <a:xfrm rot="0">
            <a:off x="7454784" y="1349695"/>
            <a:ext cx="4012791" cy="1108710"/>
          </a:xfrm>
          <a:prstGeom prst="rect">
            <a:avLst/>
          </a:prstGeom>
        </p:spPr>
        <p:txBody>
          <a:bodyPr anchor="t" rtlCol="false" tIns="0" lIns="0" bIns="0" rIns="0">
            <a:spAutoFit/>
          </a:bodyPr>
          <a:lstStyle/>
          <a:p>
            <a:pPr algn="just">
              <a:lnSpc>
                <a:spcPts val="2939"/>
              </a:lnSpc>
              <a:spcBef>
                <a:spcPct val="0"/>
              </a:spcBef>
            </a:pPr>
            <a:r>
              <a:rPr lang="en-US" b="true" sz="2099">
                <a:solidFill>
                  <a:srgbClr val="CE5441"/>
                </a:solidFill>
                <a:latin typeface="Garet Bold"/>
                <a:ea typeface="Garet Bold"/>
                <a:cs typeface="Garet Bold"/>
                <a:sym typeface="Garet Bold"/>
              </a:rPr>
              <a:t>Insight 2 — Renovated Houses Cost More, but Not Proportionally</a:t>
            </a:r>
          </a:p>
        </p:txBody>
      </p:sp>
      <p:sp>
        <p:nvSpPr>
          <p:cNvPr name="TextBox 10" id="10"/>
          <p:cNvSpPr txBox="true"/>
          <p:nvPr/>
        </p:nvSpPr>
        <p:spPr>
          <a:xfrm rot="0">
            <a:off x="449859" y="3421069"/>
            <a:ext cx="4017937" cy="5937885"/>
          </a:xfrm>
          <a:prstGeom prst="rect">
            <a:avLst/>
          </a:prstGeom>
        </p:spPr>
        <p:txBody>
          <a:bodyPr anchor="t" rtlCol="false" tIns="0" lIns="0" bIns="0" rIns="0">
            <a:spAutoFit/>
          </a:bodyPr>
          <a:lstStyle/>
          <a:p>
            <a:pPr algn="just">
              <a:lnSpc>
                <a:spcPts val="2939"/>
              </a:lnSpc>
              <a:spcBef>
                <a:spcPct val="0"/>
              </a:spcBef>
            </a:pPr>
            <a:r>
              <a:rPr lang="en-US" sz="2099">
                <a:solidFill>
                  <a:srgbClr val="000000"/>
                </a:solidFill>
                <a:latin typeface="Garet"/>
                <a:ea typeface="Garet"/>
                <a:cs typeface="Garet"/>
                <a:sym typeface="Garet"/>
              </a:rPr>
              <a:t>Latitude and longitude analysis, plus ZIP code averages, revealed:</a:t>
            </a:r>
          </a:p>
          <a:p>
            <a:pPr algn="just">
              <a:lnSpc>
                <a:spcPts val="2939"/>
              </a:lnSpc>
              <a:spcBef>
                <a:spcPct val="0"/>
              </a:spcBef>
            </a:pPr>
            <a:r>
              <a:rPr lang="en-US" sz="2099">
                <a:solidFill>
                  <a:srgbClr val="000000"/>
                </a:solidFill>
                <a:latin typeface="Garet"/>
                <a:ea typeface="Garet"/>
                <a:cs typeface="Garet"/>
                <a:sym typeface="Garet"/>
              </a:rPr>
              <a:t>The most affordable areas that still offer central access are south-central ZIP codes like 98168, 98106, and 98108</a:t>
            </a:r>
          </a:p>
          <a:p>
            <a:pPr algn="just">
              <a:lnSpc>
                <a:spcPts val="2939"/>
              </a:lnSpc>
              <a:spcBef>
                <a:spcPct val="0"/>
              </a:spcBef>
            </a:pPr>
            <a:r>
              <a:rPr lang="en-US" sz="2099">
                <a:solidFill>
                  <a:srgbClr val="000000"/>
                </a:solidFill>
                <a:latin typeface="Garet"/>
                <a:ea typeface="Garet"/>
                <a:cs typeface="Garet"/>
                <a:sym typeface="Garet"/>
              </a:rPr>
              <a:t>Northern ZIP codes are significantly outside Nicole’s middle price range</a:t>
            </a:r>
          </a:p>
          <a:p>
            <a:pPr algn="just">
              <a:lnSpc>
                <a:spcPts val="2939"/>
              </a:lnSpc>
              <a:spcBef>
                <a:spcPct val="0"/>
              </a:spcBef>
            </a:pPr>
            <a:r>
              <a:rPr lang="en-US" sz="2099">
                <a:solidFill>
                  <a:srgbClr val="000000"/>
                </a:solidFill>
                <a:latin typeface="Garet"/>
                <a:ea typeface="Garet"/>
                <a:cs typeface="Garet"/>
                <a:sym typeface="Garet"/>
              </a:rPr>
              <a:t>Why it matters for Nicole:</a:t>
            </a:r>
          </a:p>
          <a:p>
            <a:pPr algn="just">
              <a:lnSpc>
                <a:spcPts val="2939"/>
              </a:lnSpc>
              <a:spcBef>
                <a:spcPct val="0"/>
              </a:spcBef>
            </a:pPr>
            <a:r>
              <a:rPr lang="en-US" sz="2099">
                <a:solidFill>
                  <a:srgbClr val="000000"/>
                </a:solidFill>
                <a:latin typeface="Garet"/>
                <a:ea typeface="Garet"/>
                <a:cs typeface="Garet"/>
                <a:sym typeface="Garet"/>
              </a:rPr>
              <a:t> Her best options are in the southern central corridor, where she can still enjoy lively neighborhoods without exceeding her budget.</a:t>
            </a:r>
          </a:p>
        </p:txBody>
      </p:sp>
      <p:sp>
        <p:nvSpPr>
          <p:cNvPr name="TextBox 11" id="11"/>
          <p:cNvSpPr txBox="true"/>
          <p:nvPr/>
        </p:nvSpPr>
        <p:spPr>
          <a:xfrm rot="0">
            <a:off x="14620884" y="1948420"/>
            <a:ext cx="3439497" cy="737235"/>
          </a:xfrm>
          <a:prstGeom prst="rect">
            <a:avLst/>
          </a:prstGeom>
        </p:spPr>
        <p:txBody>
          <a:bodyPr anchor="t" rtlCol="false" tIns="0" lIns="0" bIns="0" rIns="0">
            <a:spAutoFit/>
          </a:bodyPr>
          <a:lstStyle/>
          <a:p>
            <a:pPr algn="just">
              <a:lnSpc>
                <a:spcPts val="2939"/>
              </a:lnSpc>
              <a:spcBef>
                <a:spcPct val="0"/>
              </a:spcBef>
            </a:pPr>
            <a:r>
              <a:rPr lang="en-US" b="true" sz="2099">
                <a:solidFill>
                  <a:srgbClr val="CE5441"/>
                </a:solidFill>
                <a:latin typeface="Garet Bold"/>
                <a:ea typeface="Garet Bold"/>
                <a:cs typeface="Garet Bold"/>
                <a:sym typeface="Garet Bold"/>
              </a:rPr>
              <a:t>Insight 3 — House Prices Show Seasonal Patterns</a:t>
            </a:r>
          </a:p>
        </p:txBody>
      </p:sp>
      <p:sp>
        <p:nvSpPr>
          <p:cNvPr name="TextBox 12" id="12"/>
          <p:cNvSpPr txBox="true"/>
          <p:nvPr/>
        </p:nvSpPr>
        <p:spPr>
          <a:xfrm rot="0">
            <a:off x="14620884" y="3049594"/>
            <a:ext cx="3289808" cy="7052310"/>
          </a:xfrm>
          <a:prstGeom prst="rect">
            <a:avLst/>
          </a:prstGeom>
        </p:spPr>
        <p:txBody>
          <a:bodyPr anchor="t" rtlCol="false" tIns="0" lIns="0" bIns="0" rIns="0">
            <a:spAutoFit/>
          </a:bodyPr>
          <a:lstStyle/>
          <a:p>
            <a:pPr algn="just">
              <a:lnSpc>
                <a:spcPts val="2939"/>
              </a:lnSpc>
              <a:spcBef>
                <a:spcPct val="0"/>
              </a:spcBef>
            </a:pPr>
            <a:r>
              <a:rPr lang="en-US" sz="2099">
                <a:solidFill>
                  <a:srgbClr val="000000"/>
                </a:solidFill>
                <a:latin typeface="Garet"/>
                <a:ea typeface="Garet"/>
                <a:cs typeface="Garet"/>
                <a:sym typeface="Garet"/>
              </a:rPr>
              <a:t>From your date analysis and month extraction:</a:t>
            </a:r>
          </a:p>
          <a:p>
            <a:pPr algn="just">
              <a:lnSpc>
                <a:spcPts val="2939"/>
              </a:lnSpc>
              <a:spcBef>
                <a:spcPct val="0"/>
              </a:spcBef>
            </a:pPr>
            <a:r>
              <a:rPr lang="en-US" sz="2099">
                <a:solidFill>
                  <a:srgbClr val="000000"/>
                </a:solidFill>
                <a:latin typeface="Garet"/>
                <a:ea typeface="Garet"/>
                <a:cs typeface="Garet"/>
                <a:sym typeface="Garet"/>
              </a:rPr>
              <a:t>Prices typically dip during late autumn and winter months</a:t>
            </a:r>
          </a:p>
          <a:p>
            <a:pPr algn="just">
              <a:lnSpc>
                <a:spcPts val="2939"/>
              </a:lnSpc>
              <a:spcBef>
                <a:spcPct val="0"/>
              </a:spcBef>
            </a:pPr>
            <a:r>
              <a:rPr lang="en-US" sz="2099">
                <a:solidFill>
                  <a:srgbClr val="000000"/>
                </a:solidFill>
                <a:latin typeface="Garet"/>
                <a:ea typeface="Garet"/>
                <a:cs typeface="Garet"/>
                <a:sym typeface="Garet"/>
              </a:rPr>
              <a:t>They rise again during spring and summer when demand increases</a:t>
            </a:r>
          </a:p>
          <a:p>
            <a:pPr algn="just">
              <a:lnSpc>
                <a:spcPts val="2939"/>
              </a:lnSpc>
              <a:spcBef>
                <a:spcPct val="0"/>
              </a:spcBef>
            </a:pPr>
            <a:r>
              <a:rPr lang="en-US" sz="2099">
                <a:solidFill>
                  <a:srgbClr val="000000"/>
                </a:solidFill>
                <a:latin typeface="Garet"/>
                <a:ea typeface="Garet"/>
                <a:cs typeface="Garet"/>
                <a:sym typeface="Garet"/>
              </a:rPr>
              <a:t>Buying in winter may give Nicole a negotiation advantage</a:t>
            </a:r>
          </a:p>
          <a:p>
            <a:pPr algn="just">
              <a:lnSpc>
                <a:spcPts val="2939"/>
              </a:lnSpc>
              <a:spcBef>
                <a:spcPct val="0"/>
              </a:spcBef>
            </a:pPr>
            <a:r>
              <a:rPr lang="en-US" sz="2099">
                <a:solidFill>
                  <a:srgbClr val="000000"/>
                </a:solidFill>
                <a:latin typeface="Garet"/>
                <a:ea typeface="Garet"/>
                <a:cs typeface="Garet"/>
                <a:sym typeface="Garet"/>
              </a:rPr>
              <a:t>Why it matters for Nicole:</a:t>
            </a:r>
          </a:p>
          <a:p>
            <a:pPr algn="just">
              <a:lnSpc>
                <a:spcPts val="2939"/>
              </a:lnSpc>
              <a:spcBef>
                <a:spcPct val="0"/>
              </a:spcBef>
            </a:pPr>
            <a:r>
              <a:rPr lang="en-US" sz="2099">
                <a:solidFill>
                  <a:srgbClr val="000000"/>
                </a:solidFill>
                <a:latin typeface="Garet"/>
                <a:ea typeface="Garet"/>
                <a:cs typeface="Garet"/>
                <a:sym typeface="Garet"/>
              </a:rPr>
              <a:t> If she waits for the right month, Nicole may save money even in more desirable neighborhoods.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grpSp>
        <p:nvGrpSpPr>
          <p:cNvPr name="Group 5" id="5"/>
          <p:cNvGrpSpPr>
            <a:grpSpLocks noChangeAspect="true"/>
          </p:cNvGrpSpPr>
          <p:nvPr/>
        </p:nvGrpSpPr>
        <p:grpSpPr>
          <a:xfrm rot="0">
            <a:off x="1250509" y="2938298"/>
            <a:ext cx="3261144" cy="3261144"/>
            <a:chOff x="0" y="0"/>
            <a:chExt cx="8790178" cy="8790178"/>
          </a:xfrm>
        </p:grpSpPr>
        <p:sp>
          <p:nvSpPr>
            <p:cNvPr name="Freeform 6" id="6"/>
            <p:cNvSpPr/>
            <p:nvPr/>
          </p:nvSpPr>
          <p:spPr>
            <a:xfrm flipH="false" flipV="false" rot="0">
              <a:off x="149225" y="149225"/>
              <a:ext cx="8491728" cy="8491728"/>
            </a:xfrm>
            <a:custGeom>
              <a:avLst/>
              <a:gdLst/>
              <a:ahLst/>
              <a:cxnLst/>
              <a:rect r="r" b="b" t="t" l="l"/>
              <a:pathLst>
                <a:path h="8491728" w="8491728">
                  <a:moveTo>
                    <a:pt x="0" y="0"/>
                  </a:moveTo>
                  <a:lnTo>
                    <a:pt x="8491728" y="0"/>
                  </a:lnTo>
                  <a:lnTo>
                    <a:pt x="8491728" y="8491728"/>
                  </a:lnTo>
                  <a:lnTo>
                    <a:pt x="0" y="8491728"/>
                  </a:lnTo>
                  <a:close/>
                </a:path>
              </a:pathLst>
            </a:custGeom>
            <a:blipFill>
              <a:blip r:embed="rId3"/>
              <a:stretch>
                <a:fillRect l="-24931" t="0" r="-24931" b="0"/>
              </a:stretch>
            </a:blipFill>
          </p:spPr>
        </p:sp>
        <p:sp>
          <p:nvSpPr>
            <p:cNvPr name="Freeform 7" id="7"/>
            <p:cNvSpPr/>
            <p:nvPr/>
          </p:nvSpPr>
          <p:spPr>
            <a:xfrm flipH="false" flipV="false" rot="0">
              <a:off x="0" y="0"/>
              <a:ext cx="8790178" cy="8790178"/>
            </a:xfrm>
            <a:custGeom>
              <a:avLst/>
              <a:gdLst/>
              <a:ahLst/>
              <a:cxnLst/>
              <a:rect r="r" b="b" t="t" l="l"/>
              <a:pathLst>
                <a:path h="8790178" w="8790178">
                  <a:moveTo>
                    <a:pt x="8790178" y="8790178"/>
                  </a:moveTo>
                  <a:lnTo>
                    <a:pt x="0" y="8790178"/>
                  </a:lnTo>
                  <a:lnTo>
                    <a:pt x="0" y="0"/>
                  </a:lnTo>
                  <a:lnTo>
                    <a:pt x="8790178" y="0"/>
                  </a:lnTo>
                  <a:lnTo>
                    <a:pt x="8790178" y="8790178"/>
                  </a:lnTo>
                  <a:close/>
                  <a:moveTo>
                    <a:pt x="19050" y="8771128"/>
                  </a:moveTo>
                  <a:lnTo>
                    <a:pt x="8771128" y="8771128"/>
                  </a:lnTo>
                  <a:lnTo>
                    <a:pt x="8771128" y="19050"/>
                  </a:lnTo>
                  <a:lnTo>
                    <a:pt x="19050" y="19050"/>
                  </a:lnTo>
                  <a:lnTo>
                    <a:pt x="19050" y="8771128"/>
                  </a:lnTo>
                  <a:close/>
                </a:path>
              </a:pathLst>
            </a:custGeom>
            <a:solidFill>
              <a:srgbClr val="000000"/>
            </a:solidFill>
          </p:spPr>
        </p:sp>
      </p:grpSp>
      <p:grpSp>
        <p:nvGrpSpPr>
          <p:cNvPr name="Group 8" id="8"/>
          <p:cNvGrpSpPr>
            <a:grpSpLocks noChangeAspect="true"/>
          </p:cNvGrpSpPr>
          <p:nvPr/>
        </p:nvGrpSpPr>
        <p:grpSpPr>
          <a:xfrm rot="0">
            <a:off x="5425788" y="2938298"/>
            <a:ext cx="3261144" cy="3261144"/>
            <a:chOff x="0" y="0"/>
            <a:chExt cx="8790178" cy="8790178"/>
          </a:xfrm>
        </p:grpSpPr>
        <p:sp>
          <p:nvSpPr>
            <p:cNvPr name="Freeform 9" id="9"/>
            <p:cNvSpPr/>
            <p:nvPr/>
          </p:nvSpPr>
          <p:spPr>
            <a:xfrm flipH="false" flipV="false" rot="0">
              <a:off x="149225" y="149225"/>
              <a:ext cx="8491728" cy="8491728"/>
            </a:xfrm>
            <a:custGeom>
              <a:avLst/>
              <a:gdLst/>
              <a:ahLst/>
              <a:cxnLst/>
              <a:rect r="r" b="b" t="t" l="l"/>
              <a:pathLst>
                <a:path h="8491728" w="8491728">
                  <a:moveTo>
                    <a:pt x="0" y="0"/>
                  </a:moveTo>
                  <a:lnTo>
                    <a:pt x="8491728" y="0"/>
                  </a:lnTo>
                  <a:lnTo>
                    <a:pt x="8491728" y="8491728"/>
                  </a:lnTo>
                  <a:lnTo>
                    <a:pt x="0" y="8491728"/>
                  </a:lnTo>
                  <a:close/>
                </a:path>
              </a:pathLst>
            </a:custGeom>
            <a:blipFill>
              <a:blip r:embed="rId4"/>
              <a:stretch>
                <a:fillRect l="-24999" t="0" r="-24999" b="0"/>
              </a:stretch>
            </a:blipFill>
          </p:spPr>
        </p:sp>
        <p:sp>
          <p:nvSpPr>
            <p:cNvPr name="Freeform 10" id="10"/>
            <p:cNvSpPr/>
            <p:nvPr/>
          </p:nvSpPr>
          <p:spPr>
            <a:xfrm flipH="false" flipV="false" rot="0">
              <a:off x="0" y="0"/>
              <a:ext cx="8790178" cy="8790178"/>
            </a:xfrm>
            <a:custGeom>
              <a:avLst/>
              <a:gdLst/>
              <a:ahLst/>
              <a:cxnLst/>
              <a:rect r="r" b="b" t="t" l="l"/>
              <a:pathLst>
                <a:path h="8790178" w="8790178">
                  <a:moveTo>
                    <a:pt x="8790178" y="8790178"/>
                  </a:moveTo>
                  <a:lnTo>
                    <a:pt x="0" y="8790178"/>
                  </a:lnTo>
                  <a:lnTo>
                    <a:pt x="0" y="0"/>
                  </a:lnTo>
                  <a:lnTo>
                    <a:pt x="8790178" y="0"/>
                  </a:lnTo>
                  <a:lnTo>
                    <a:pt x="8790178" y="8790178"/>
                  </a:lnTo>
                  <a:close/>
                  <a:moveTo>
                    <a:pt x="19050" y="8771128"/>
                  </a:moveTo>
                  <a:lnTo>
                    <a:pt x="8771128" y="8771128"/>
                  </a:lnTo>
                  <a:lnTo>
                    <a:pt x="8771128" y="19050"/>
                  </a:lnTo>
                  <a:lnTo>
                    <a:pt x="19050" y="19050"/>
                  </a:lnTo>
                  <a:lnTo>
                    <a:pt x="19050" y="8771128"/>
                  </a:lnTo>
                  <a:close/>
                </a:path>
              </a:pathLst>
            </a:custGeom>
            <a:solidFill>
              <a:srgbClr val="000000"/>
            </a:solidFill>
          </p:spPr>
        </p:sp>
      </p:grpSp>
      <p:grpSp>
        <p:nvGrpSpPr>
          <p:cNvPr name="Group 11" id="11"/>
          <p:cNvGrpSpPr>
            <a:grpSpLocks noChangeAspect="true"/>
          </p:cNvGrpSpPr>
          <p:nvPr/>
        </p:nvGrpSpPr>
        <p:grpSpPr>
          <a:xfrm rot="0">
            <a:off x="9601067" y="2938298"/>
            <a:ext cx="3261144" cy="3261144"/>
            <a:chOff x="0" y="0"/>
            <a:chExt cx="8790178" cy="8790178"/>
          </a:xfrm>
        </p:grpSpPr>
        <p:sp>
          <p:nvSpPr>
            <p:cNvPr name="Freeform 12" id="12"/>
            <p:cNvSpPr/>
            <p:nvPr/>
          </p:nvSpPr>
          <p:spPr>
            <a:xfrm flipH="false" flipV="false" rot="0">
              <a:off x="149225" y="149225"/>
              <a:ext cx="8491728" cy="8491728"/>
            </a:xfrm>
            <a:custGeom>
              <a:avLst/>
              <a:gdLst/>
              <a:ahLst/>
              <a:cxnLst/>
              <a:rect r="r" b="b" t="t" l="l"/>
              <a:pathLst>
                <a:path h="8491728" w="8491728">
                  <a:moveTo>
                    <a:pt x="0" y="0"/>
                  </a:moveTo>
                  <a:lnTo>
                    <a:pt x="8491728" y="0"/>
                  </a:lnTo>
                  <a:lnTo>
                    <a:pt x="8491728" y="8491728"/>
                  </a:lnTo>
                  <a:lnTo>
                    <a:pt x="0" y="8491728"/>
                  </a:lnTo>
                  <a:close/>
                </a:path>
              </a:pathLst>
            </a:custGeom>
            <a:blipFill>
              <a:blip r:embed="rId5"/>
              <a:stretch>
                <a:fillRect l="-24931" t="0" r="-24931" b="0"/>
              </a:stretch>
            </a:blipFill>
          </p:spPr>
        </p:sp>
        <p:sp>
          <p:nvSpPr>
            <p:cNvPr name="Freeform 13" id="13"/>
            <p:cNvSpPr/>
            <p:nvPr/>
          </p:nvSpPr>
          <p:spPr>
            <a:xfrm flipH="false" flipV="false" rot="0">
              <a:off x="0" y="0"/>
              <a:ext cx="8790178" cy="8790178"/>
            </a:xfrm>
            <a:custGeom>
              <a:avLst/>
              <a:gdLst/>
              <a:ahLst/>
              <a:cxnLst/>
              <a:rect r="r" b="b" t="t" l="l"/>
              <a:pathLst>
                <a:path h="8790178" w="8790178">
                  <a:moveTo>
                    <a:pt x="8790178" y="8790178"/>
                  </a:moveTo>
                  <a:lnTo>
                    <a:pt x="0" y="8790178"/>
                  </a:lnTo>
                  <a:lnTo>
                    <a:pt x="0" y="0"/>
                  </a:lnTo>
                  <a:lnTo>
                    <a:pt x="8790178" y="0"/>
                  </a:lnTo>
                  <a:lnTo>
                    <a:pt x="8790178" y="8790178"/>
                  </a:lnTo>
                  <a:close/>
                  <a:moveTo>
                    <a:pt x="19050" y="8771128"/>
                  </a:moveTo>
                  <a:lnTo>
                    <a:pt x="8771128" y="8771128"/>
                  </a:lnTo>
                  <a:lnTo>
                    <a:pt x="8771128" y="19050"/>
                  </a:lnTo>
                  <a:lnTo>
                    <a:pt x="19050" y="19050"/>
                  </a:lnTo>
                  <a:lnTo>
                    <a:pt x="19050" y="8771128"/>
                  </a:lnTo>
                  <a:close/>
                </a:path>
              </a:pathLst>
            </a:custGeom>
            <a:solidFill>
              <a:srgbClr val="000000"/>
            </a:solidFill>
          </p:spPr>
        </p:sp>
      </p:grpSp>
      <p:grpSp>
        <p:nvGrpSpPr>
          <p:cNvPr name="Group 14" id="14"/>
          <p:cNvGrpSpPr>
            <a:grpSpLocks noChangeAspect="true"/>
          </p:cNvGrpSpPr>
          <p:nvPr/>
        </p:nvGrpSpPr>
        <p:grpSpPr>
          <a:xfrm rot="0">
            <a:off x="13776346" y="2938298"/>
            <a:ext cx="3261144" cy="3261144"/>
            <a:chOff x="0" y="0"/>
            <a:chExt cx="8790178" cy="8790178"/>
          </a:xfrm>
        </p:grpSpPr>
        <p:sp>
          <p:nvSpPr>
            <p:cNvPr name="Freeform 15" id="15"/>
            <p:cNvSpPr/>
            <p:nvPr/>
          </p:nvSpPr>
          <p:spPr>
            <a:xfrm flipH="false" flipV="false" rot="0">
              <a:off x="149225" y="149225"/>
              <a:ext cx="8491728" cy="8491728"/>
            </a:xfrm>
            <a:custGeom>
              <a:avLst/>
              <a:gdLst/>
              <a:ahLst/>
              <a:cxnLst/>
              <a:rect r="r" b="b" t="t" l="l"/>
              <a:pathLst>
                <a:path h="8491728" w="8491728">
                  <a:moveTo>
                    <a:pt x="0" y="0"/>
                  </a:moveTo>
                  <a:lnTo>
                    <a:pt x="8491728" y="0"/>
                  </a:lnTo>
                  <a:lnTo>
                    <a:pt x="8491728" y="8491728"/>
                  </a:lnTo>
                  <a:lnTo>
                    <a:pt x="0" y="8491728"/>
                  </a:lnTo>
                  <a:close/>
                </a:path>
              </a:pathLst>
            </a:custGeom>
            <a:blipFill>
              <a:blip r:embed="rId6"/>
              <a:stretch>
                <a:fillRect l="-25136" t="0" r="-25136" b="0"/>
              </a:stretch>
            </a:blipFill>
          </p:spPr>
        </p:sp>
        <p:sp>
          <p:nvSpPr>
            <p:cNvPr name="Freeform 16" id="16"/>
            <p:cNvSpPr/>
            <p:nvPr/>
          </p:nvSpPr>
          <p:spPr>
            <a:xfrm flipH="false" flipV="false" rot="0">
              <a:off x="0" y="0"/>
              <a:ext cx="8790178" cy="8790178"/>
            </a:xfrm>
            <a:custGeom>
              <a:avLst/>
              <a:gdLst/>
              <a:ahLst/>
              <a:cxnLst/>
              <a:rect r="r" b="b" t="t" l="l"/>
              <a:pathLst>
                <a:path h="8790178" w="8790178">
                  <a:moveTo>
                    <a:pt x="8790178" y="8790178"/>
                  </a:moveTo>
                  <a:lnTo>
                    <a:pt x="0" y="8790178"/>
                  </a:lnTo>
                  <a:lnTo>
                    <a:pt x="0" y="0"/>
                  </a:lnTo>
                  <a:lnTo>
                    <a:pt x="8790178" y="0"/>
                  </a:lnTo>
                  <a:lnTo>
                    <a:pt x="8790178" y="8790178"/>
                  </a:lnTo>
                  <a:close/>
                  <a:moveTo>
                    <a:pt x="19050" y="8771128"/>
                  </a:moveTo>
                  <a:lnTo>
                    <a:pt x="8771128" y="8771128"/>
                  </a:lnTo>
                  <a:lnTo>
                    <a:pt x="8771128" y="19050"/>
                  </a:lnTo>
                  <a:lnTo>
                    <a:pt x="19050" y="19050"/>
                  </a:lnTo>
                  <a:lnTo>
                    <a:pt x="19050" y="8771128"/>
                  </a:lnTo>
                  <a:close/>
                </a:path>
              </a:pathLst>
            </a:custGeom>
            <a:solidFill>
              <a:srgbClr val="000000"/>
            </a:solidFill>
          </p:spPr>
        </p:sp>
      </p:grpSp>
      <p:sp>
        <p:nvSpPr>
          <p:cNvPr name="Freeform 17" id="17"/>
          <p:cNvSpPr/>
          <p:nvPr/>
        </p:nvSpPr>
        <p:spPr>
          <a:xfrm flipH="false" flipV="false" rot="0">
            <a:off x="2568735" y="7658855"/>
            <a:ext cx="624692" cy="623129"/>
          </a:xfrm>
          <a:custGeom>
            <a:avLst/>
            <a:gdLst/>
            <a:ahLst/>
            <a:cxnLst/>
            <a:rect r="r" b="b" t="t" l="l"/>
            <a:pathLst>
              <a:path h="623129" w="624692">
                <a:moveTo>
                  <a:pt x="0" y="0"/>
                </a:moveTo>
                <a:lnTo>
                  <a:pt x="624693" y="0"/>
                </a:lnTo>
                <a:lnTo>
                  <a:pt x="624693" y="623129"/>
                </a:lnTo>
                <a:lnTo>
                  <a:pt x="0" y="623129"/>
                </a:lnTo>
                <a:lnTo>
                  <a:pt x="0" y="0"/>
                </a:lnTo>
                <a:close/>
              </a:path>
            </a:pathLst>
          </a:custGeom>
          <a:blipFill>
            <a:blip r:embed="rId7">
              <a:extLst>
                <a:ext uri="{96DAC541-7B7A-43D3-8B79-37D633B846F1}">
                  <asvg:svgBlip xmlns:asvg="http://schemas.microsoft.com/office/drawing/2016/SVG/main" r:embed="rId8"/>
                </a:ext>
              </a:extLst>
            </a:blip>
            <a:stretch>
              <a:fillRect l="-117870" t="0" r="0" b="-122462"/>
            </a:stretch>
          </a:blipFill>
        </p:spPr>
      </p:sp>
      <p:sp>
        <p:nvSpPr>
          <p:cNvPr name="Freeform 18" id="18"/>
          <p:cNvSpPr/>
          <p:nvPr/>
        </p:nvSpPr>
        <p:spPr>
          <a:xfrm flipH="false" flipV="false" rot="0">
            <a:off x="6744014" y="7658855"/>
            <a:ext cx="624692" cy="623129"/>
          </a:xfrm>
          <a:custGeom>
            <a:avLst/>
            <a:gdLst/>
            <a:ahLst/>
            <a:cxnLst/>
            <a:rect r="r" b="b" t="t" l="l"/>
            <a:pathLst>
              <a:path h="623129" w="624692">
                <a:moveTo>
                  <a:pt x="0" y="0"/>
                </a:moveTo>
                <a:lnTo>
                  <a:pt x="624693" y="0"/>
                </a:lnTo>
                <a:lnTo>
                  <a:pt x="624693" y="623129"/>
                </a:lnTo>
                <a:lnTo>
                  <a:pt x="0" y="623129"/>
                </a:lnTo>
                <a:lnTo>
                  <a:pt x="0" y="0"/>
                </a:lnTo>
                <a:close/>
              </a:path>
            </a:pathLst>
          </a:custGeom>
          <a:blipFill>
            <a:blip r:embed="rId7">
              <a:extLst>
                <a:ext uri="{96DAC541-7B7A-43D3-8B79-37D633B846F1}">
                  <asvg:svgBlip xmlns:asvg="http://schemas.microsoft.com/office/drawing/2016/SVG/main" r:embed="rId8"/>
                </a:ext>
              </a:extLst>
            </a:blip>
            <a:stretch>
              <a:fillRect l="-117870" t="0" r="0" b="-122462"/>
            </a:stretch>
          </a:blipFill>
        </p:spPr>
      </p:sp>
      <p:sp>
        <p:nvSpPr>
          <p:cNvPr name="Freeform 19" id="19"/>
          <p:cNvSpPr/>
          <p:nvPr/>
        </p:nvSpPr>
        <p:spPr>
          <a:xfrm flipH="false" flipV="false" rot="0">
            <a:off x="10919293" y="7658855"/>
            <a:ext cx="624692" cy="623129"/>
          </a:xfrm>
          <a:custGeom>
            <a:avLst/>
            <a:gdLst/>
            <a:ahLst/>
            <a:cxnLst/>
            <a:rect r="r" b="b" t="t" l="l"/>
            <a:pathLst>
              <a:path h="623129" w="624692">
                <a:moveTo>
                  <a:pt x="0" y="0"/>
                </a:moveTo>
                <a:lnTo>
                  <a:pt x="624693" y="0"/>
                </a:lnTo>
                <a:lnTo>
                  <a:pt x="624693" y="623129"/>
                </a:lnTo>
                <a:lnTo>
                  <a:pt x="0" y="623129"/>
                </a:lnTo>
                <a:lnTo>
                  <a:pt x="0" y="0"/>
                </a:lnTo>
                <a:close/>
              </a:path>
            </a:pathLst>
          </a:custGeom>
          <a:blipFill>
            <a:blip r:embed="rId7">
              <a:extLst>
                <a:ext uri="{96DAC541-7B7A-43D3-8B79-37D633B846F1}">
                  <asvg:svgBlip xmlns:asvg="http://schemas.microsoft.com/office/drawing/2016/SVG/main" r:embed="rId8"/>
                </a:ext>
              </a:extLst>
            </a:blip>
            <a:stretch>
              <a:fillRect l="-117870" t="0" r="0" b="-122462"/>
            </a:stretch>
          </a:blipFill>
        </p:spPr>
      </p:sp>
      <p:sp>
        <p:nvSpPr>
          <p:cNvPr name="Freeform 20" id="20"/>
          <p:cNvSpPr/>
          <p:nvPr/>
        </p:nvSpPr>
        <p:spPr>
          <a:xfrm flipH="false" flipV="false" rot="0">
            <a:off x="15094572" y="7658855"/>
            <a:ext cx="624692" cy="623129"/>
          </a:xfrm>
          <a:custGeom>
            <a:avLst/>
            <a:gdLst/>
            <a:ahLst/>
            <a:cxnLst/>
            <a:rect r="r" b="b" t="t" l="l"/>
            <a:pathLst>
              <a:path h="623129" w="624692">
                <a:moveTo>
                  <a:pt x="0" y="0"/>
                </a:moveTo>
                <a:lnTo>
                  <a:pt x="624693" y="0"/>
                </a:lnTo>
                <a:lnTo>
                  <a:pt x="624693" y="623129"/>
                </a:lnTo>
                <a:lnTo>
                  <a:pt x="0" y="623129"/>
                </a:lnTo>
                <a:lnTo>
                  <a:pt x="0" y="0"/>
                </a:lnTo>
                <a:close/>
              </a:path>
            </a:pathLst>
          </a:custGeom>
          <a:blipFill>
            <a:blip r:embed="rId7">
              <a:extLst>
                <a:ext uri="{96DAC541-7B7A-43D3-8B79-37D633B846F1}">
                  <asvg:svgBlip xmlns:asvg="http://schemas.microsoft.com/office/drawing/2016/SVG/main" r:embed="rId8"/>
                </a:ext>
              </a:extLst>
            </a:blip>
            <a:stretch>
              <a:fillRect l="-117870" t="0" r="0" b="-122462"/>
            </a:stretch>
          </a:blipFill>
        </p:spPr>
      </p:sp>
      <p:sp>
        <p:nvSpPr>
          <p:cNvPr name="TextBox 21" id="21"/>
          <p:cNvSpPr txBox="true"/>
          <p:nvPr/>
        </p:nvSpPr>
        <p:spPr>
          <a:xfrm rot="0">
            <a:off x="5542303" y="1123950"/>
            <a:ext cx="7203393" cy="785704"/>
          </a:xfrm>
          <a:prstGeom prst="rect">
            <a:avLst/>
          </a:prstGeom>
        </p:spPr>
        <p:txBody>
          <a:bodyPr anchor="t" rtlCol="false" tIns="0" lIns="0" bIns="0" rIns="0">
            <a:spAutoFit/>
          </a:bodyPr>
          <a:lstStyle/>
          <a:p>
            <a:pPr algn="ctr">
              <a:lnSpc>
                <a:spcPts val="5808"/>
              </a:lnSpc>
            </a:pPr>
            <a:r>
              <a:rPr lang="en-US" sz="5808" spc="-458">
                <a:solidFill>
                  <a:srgbClr val="000000"/>
                </a:solidFill>
                <a:latin typeface="Archivo Black"/>
                <a:ea typeface="Archivo Black"/>
                <a:cs typeface="Archivo Black"/>
                <a:sym typeface="Archivo Black"/>
              </a:rPr>
              <a:t>Our team</a:t>
            </a:r>
          </a:p>
        </p:txBody>
      </p:sp>
      <p:sp>
        <p:nvSpPr>
          <p:cNvPr name="TextBox 22" id="22"/>
          <p:cNvSpPr txBox="true"/>
          <p:nvPr/>
        </p:nvSpPr>
        <p:spPr>
          <a:xfrm rot="0">
            <a:off x="12938218" y="981075"/>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13/14</a:t>
            </a:r>
          </a:p>
        </p:txBody>
      </p:sp>
      <p:sp>
        <p:nvSpPr>
          <p:cNvPr name="TextBox 23" id="23"/>
          <p:cNvSpPr txBox="true"/>
          <p:nvPr/>
        </p:nvSpPr>
        <p:spPr>
          <a:xfrm rot="0">
            <a:off x="915229" y="6547601"/>
            <a:ext cx="3931704" cy="331000"/>
          </a:xfrm>
          <a:prstGeom prst="rect">
            <a:avLst/>
          </a:prstGeom>
        </p:spPr>
        <p:txBody>
          <a:bodyPr anchor="t" rtlCol="false" tIns="0" lIns="0" bIns="0" rIns="0">
            <a:spAutoFit/>
          </a:bodyPr>
          <a:lstStyle/>
          <a:p>
            <a:pPr algn="ctr">
              <a:lnSpc>
                <a:spcPts val="2794"/>
              </a:lnSpc>
            </a:pPr>
            <a:r>
              <a:rPr lang="en-US" b="true" sz="1996">
                <a:solidFill>
                  <a:srgbClr val="000000"/>
                </a:solidFill>
                <a:latin typeface="Garet Bold"/>
                <a:ea typeface="Garet Bold"/>
                <a:cs typeface="Garet Bold"/>
                <a:sym typeface="Garet Bold"/>
              </a:rPr>
              <a:t>Ms. Fluffy</a:t>
            </a:r>
          </a:p>
        </p:txBody>
      </p:sp>
      <p:sp>
        <p:nvSpPr>
          <p:cNvPr name="TextBox 24" id="24"/>
          <p:cNvSpPr txBox="true"/>
          <p:nvPr/>
        </p:nvSpPr>
        <p:spPr>
          <a:xfrm rot="0">
            <a:off x="4968721" y="6547601"/>
            <a:ext cx="4175279" cy="331000"/>
          </a:xfrm>
          <a:prstGeom prst="rect">
            <a:avLst/>
          </a:prstGeom>
        </p:spPr>
        <p:txBody>
          <a:bodyPr anchor="t" rtlCol="false" tIns="0" lIns="0" bIns="0" rIns="0">
            <a:spAutoFit/>
          </a:bodyPr>
          <a:lstStyle/>
          <a:p>
            <a:pPr algn="ctr">
              <a:lnSpc>
                <a:spcPts val="2794"/>
              </a:lnSpc>
            </a:pPr>
            <a:r>
              <a:rPr lang="en-US" b="true" sz="1996">
                <a:solidFill>
                  <a:srgbClr val="000000"/>
                </a:solidFill>
                <a:latin typeface="Garet Bold"/>
                <a:ea typeface="Garet Bold"/>
                <a:cs typeface="Garet Bold"/>
                <a:sym typeface="Garet Bold"/>
              </a:rPr>
              <a:t>Ms. Strict</a:t>
            </a:r>
          </a:p>
        </p:txBody>
      </p:sp>
      <p:sp>
        <p:nvSpPr>
          <p:cNvPr name="TextBox 25" id="25"/>
          <p:cNvSpPr txBox="true"/>
          <p:nvPr/>
        </p:nvSpPr>
        <p:spPr>
          <a:xfrm rot="0">
            <a:off x="1250509" y="7033397"/>
            <a:ext cx="3261144" cy="315305"/>
          </a:xfrm>
          <a:prstGeom prst="rect">
            <a:avLst/>
          </a:prstGeom>
        </p:spPr>
        <p:txBody>
          <a:bodyPr anchor="t" rtlCol="false" tIns="0" lIns="0" bIns="0" rIns="0">
            <a:spAutoFit/>
          </a:bodyPr>
          <a:lstStyle/>
          <a:p>
            <a:pPr algn="ctr">
              <a:lnSpc>
                <a:spcPts val="2661"/>
              </a:lnSpc>
            </a:pPr>
            <a:r>
              <a:rPr lang="en-US" sz="1901">
                <a:solidFill>
                  <a:srgbClr val="000000"/>
                </a:solidFill>
                <a:latin typeface="Garet"/>
                <a:ea typeface="Garet"/>
                <a:cs typeface="Garet"/>
                <a:sym typeface="Garet"/>
              </a:rPr>
              <a:t>CEO</a:t>
            </a:r>
          </a:p>
        </p:txBody>
      </p:sp>
      <p:sp>
        <p:nvSpPr>
          <p:cNvPr name="TextBox 26" id="26"/>
          <p:cNvSpPr txBox="true"/>
          <p:nvPr/>
        </p:nvSpPr>
        <p:spPr>
          <a:xfrm rot="0">
            <a:off x="5425788" y="7033397"/>
            <a:ext cx="3261144" cy="315305"/>
          </a:xfrm>
          <a:prstGeom prst="rect">
            <a:avLst/>
          </a:prstGeom>
        </p:spPr>
        <p:txBody>
          <a:bodyPr anchor="t" rtlCol="false" tIns="0" lIns="0" bIns="0" rIns="0">
            <a:spAutoFit/>
          </a:bodyPr>
          <a:lstStyle/>
          <a:p>
            <a:pPr algn="ctr">
              <a:lnSpc>
                <a:spcPts val="2661"/>
              </a:lnSpc>
            </a:pPr>
            <a:r>
              <a:rPr lang="en-US" sz="1901">
                <a:solidFill>
                  <a:srgbClr val="000000"/>
                </a:solidFill>
                <a:latin typeface="Garet"/>
                <a:ea typeface="Garet"/>
                <a:cs typeface="Garet"/>
                <a:sym typeface="Garet"/>
              </a:rPr>
              <a:t>CTO</a:t>
            </a:r>
          </a:p>
        </p:txBody>
      </p:sp>
      <p:sp>
        <p:nvSpPr>
          <p:cNvPr name="TextBox 27" id="27"/>
          <p:cNvSpPr txBox="true"/>
          <p:nvPr/>
        </p:nvSpPr>
        <p:spPr>
          <a:xfrm rot="0">
            <a:off x="9174347" y="6547601"/>
            <a:ext cx="4114584" cy="331000"/>
          </a:xfrm>
          <a:prstGeom prst="rect">
            <a:avLst/>
          </a:prstGeom>
        </p:spPr>
        <p:txBody>
          <a:bodyPr anchor="t" rtlCol="false" tIns="0" lIns="0" bIns="0" rIns="0">
            <a:spAutoFit/>
          </a:bodyPr>
          <a:lstStyle/>
          <a:p>
            <a:pPr algn="ctr">
              <a:lnSpc>
                <a:spcPts val="2794"/>
              </a:lnSpc>
            </a:pPr>
            <a:r>
              <a:rPr lang="en-US" b="true" sz="1996">
                <a:solidFill>
                  <a:srgbClr val="000000"/>
                </a:solidFill>
                <a:latin typeface="Garet Bold"/>
                <a:ea typeface="Garet Bold"/>
                <a:cs typeface="Garet Bold"/>
                <a:sym typeface="Garet Bold"/>
              </a:rPr>
              <a:t>Mr. Pink</a:t>
            </a:r>
          </a:p>
        </p:txBody>
      </p:sp>
      <p:sp>
        <p:nvSpPr>
          <p:cNvPr name="TextBox 28" id="28"/>
          <p:cNvSpPr txBox="true"/>
          <p:nvPr/>
        </p:nvSpPr>
        <p:spPr>
          <a:xfrm rot="0">
            <a:off x="9601067" y="7033397"/>
            <a:ext cx="3261144" cy="315305"/>
          </a:xfrm>
          <a:prstGeom prst="rect">
            <a:avLst/>
          </a:prstGeom>
        </p:spPr>
        <p:txBody>
          <a:bodyPr anchor="t" rtlCol="false" tIns="0" lIns="0" bIns="0" rIns="0">
            <a:spAutoFit/>
          </a:bodyPr>
          <a:lstStyle/>
          <a:p>
            <a:pPr algn="ctr">
              <a:lnSpc>
                <a:spcPts val="2661"/>
              </a:lnSpc>
            </a:pPr>
            <a:r>
              <a:rPr lang="en-US" sz="1901">
                <a:solidFill>
                  <a:srgbClr val="000000"/>
                </a:solidFill>
                <a:latin typeface="Garet"/>
                <a:ea typeface="Garet"/>
                <a:cs typeface="Garet"/>
                <a:sym typeface="Garet"/>
              </a:rPr>
              <a:t>CMO</a:t>
            </a:r>
          </a:p>
        </p:txBody>
      </p:sp>
      <p:sp>
        <p:nvSpPr>
          <p:cNvPr name="TextBox 29" id="29"/>
          <p:cNvSpPr txBox="true"/>
          <p:nvPr/>
        </p:nvSpPr>
        <p:spPr>
          <a:xfrm rot="0">
            <a:off x="13380106" y="6547601"/>
            <a:ext cx="4053624" cy="331000"/>
          </a:xfrm>
          <a:prstGeom prst="rect">
            <a:avLst/>
          </a:prstGeom>
        </p:spPr>
        <p:txBody>
          <a:bodyPr anchor="t" rtlCol="false" tIns="0" lIns="0" bIns="0" rIns="0">
            <a:spAutoFit/>
          </a:bodyPr>
          <a:lstStyle/>
          <a:p>
            <a:pPr algn="ctr">
              <a:lnSpc>
                <a:spcPts val="2794"/>
              </a:lnSpc>
            </a:pPr>
            <a:r>
              <a:rPr lang="en-US" b="true" sz="1996">
                <a:solidFill>
                  <a:srgbClr val="000000"/>
                </a:solidFill>
                <a:latin typeface="Garet Bold"/>
                <a:ea typeface="Garet Bold"/>
                <a:cs typeface="Garet Bold"/>
                <a:sym typeface="Garet Bold"/>
              </a:rPr>
              <a:t>Mr. Plant</a:t>
            </a:r>
          </a:p>
        </p:txBody>
      </p:sp>
      <p:sp>
        <p:nvSpPr>
          <p:cNvPr name="TextBox 30" id="30"/>
          <p:cNvSpPr txBox="true"/>
          <p:nvPr/>
        </p:nvSpPr>
        <p:spPr>
          <a:xfrm rot="0">
            <a:off x="13776346" y="7033397"/>
            <a:ext cx="3261144" cy="315305"/>
          </a:xfrm>
          <a:prstGeom prst="rect">
            <a:avLst/>
          </a:prstGeom>
        </p:spPr>
        <p:txBody>
          <a:bodyPr anchor="t" rtlCol="false" tIns="0" lIns="0" bIns="0" rIns="0">
            <a:spAutoFit/>
          </a:bodyPr>
          <a:lstStyle/>
          <a:p>
            <a:pPr algn="ctr">
              <a:lnSpc>
                <a:spcPts val="2661"/>
              </a:lnSpc>
            </a:pPr>
            <a:r>
              <a:rPr lang="en-US" sz="1901">
                <a:solidFill>
                  <a:srgbClr val="000000"/>
                </a:solidFill>
                <a:latin typeface="Garet"/>
                <a:ea typeface="Garet"/>
                <a:cs typeface="Garet"/>
                <a:sym typeface="Garet"/>
              </a:rPr>
              <a:t>COO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028700" y="2739036"/>
            <a:ext cx="11166138" cy="662237"/>
          </a:xfrm>
          <a:prstGeom prst="rect">
            <a:avLst/>
          </a:prstGeom>
        </p:spPr>
        <p:txBody>
          <a:bodyPr anchor="t" rtlCol="false" tIns="0" lIns="0" bIns="0" rIns="0">
            <a:spAutoFit/>
          </a:bodyPr>
          <a:lstStyle/>
          <a:p>
            <a:pPr algn="l">
              <a:lnSpc>
                <a:spcPts val="4530"/>
              </a:lnSpc>
            </a:pPr>
            <a:r>
              <a:rPr lang="en-US" sz="5808" spc="-458">
                <a:solidFill>
                  <a:srgbClr val="000000"/>
                </a:solidFill>
                <a:latin typeface="Archivo Black"/>
                <a:ea typeface="Archivo Black"/>
                <a:cs typeface="Archivo Black"/>
                <a:sym typeface="Archivo Black"/>
              </a:rPr>
              <a:t>Thank you for your attention! </a:t>
            </a:r>
          </a:p>
        </p:txBody>
      </p:sp>
      <p:sp>
        <p:nvSpPr>
          <p:cNvPr name="TextBox 4" id="4"/>
          <p:cNvSpPr txBox="true"/>
          <p:nvPr/>
        </p:nvSpPr>
        <p:spPr>
          <a:xfrm rot="0">
            <a:off x="12938218" y="981075"/>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14/14</a:t>
            </a:r>
          </a:p>
        </p:txBody>
      </p:sp>
      <p:sp>
        <p:nvSpPr>
          <p:cNvPr name="AutoShape 5" id="5"/>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TextBox 6" id="6"/>
          <p:cNvSpPr txBox="true"/>
          <p:nvPr/>
        </p:nvSpPr>
        <p:spPr>
          <a:xfrm rot="0">
            <a:off x="1028700" y="5738073"/>
            <a:ext cx="2149547" cy="339725"/>
          </a:xfrm>
          <a:prstGeom prst="rect">
            <a:avLst/>
          </a:prstGeom>
        </p:spPr>
        <p:txBody>
          <a:bodyPr anchor="t" rtlCol="false" tIns="0" lIns="0" bIns="0" rIns="0">
            <a:spAutoFit/>
          </a:bodyPr>
          <a:lstStyle/>
          <a:p>
            <a:pPr algn="l">
              <a:lnSpc>
                <a:spcPts val="2800"/>
              </a:lnSpc>
            </a:pPr>
            <a:r>
              <a:rPr lang="en-US" sz="2000" b="true">
                <a:solidFill>
                  <a:srgbClr val="000000"/>
                </a:solidFill>
                <a:latin typeface="Garet Bold"/>
                <a:ea typeface="Garet Bold"/>
                <a:cs typeface="Garet Bold"/>
                <a:sym typeface="Garet Bold"/>
              </a:rPr>
              <a:t>E-mail</a:t>
            </a:r>
          </a:p>
        </p:txBody>
      </p:sp>
      <p:sp>
        <p:nvSpPr>
          <p:cNvPr name="TextBox 7" id="7"/>
          <p:cNvSpPr txBox="true"/>
          <p:nvPr/>
        </p:nvSpPr>
        <p:spPr>
          <a:xfrm rot="0">
            <a:off x="3178247" y="5712038"/>
            <a:ext cx="5362304" cy="365760"/>
          </a:xfrm>
          <a:prstGeom prst="rect">
            <a:avLst/>
          </a:prstGeom>
        </p:spPr>
        <p:txBody>
          <a:bodyPr anchor="t" rtlCol="false" tIns="0" lIns="0" bIns="0" rIns="0">
            <a:spAutoFit/>
          </a:bodyPr>
          <a:lstStyle/>
          <a:p>
            <a:pPr algn="just" marL="0" indent="0" lvl="0">
              <a:lnSpc>
                <a:spcPts val="2939"/>
              </a:lnSpc>
              <a:spcBef>
                <a:spcPct val="0"/>
              </a:spcBef>
            </a:pPr>
            <a:r>
              <a:rPr lang="en-US" sz="2099">
                <a:solidFill>
                  <a:srgbClr val="000000"/>
                </a:solidFill>
                <a:latin typeface="Garet"/>
                <a:ea typeface="Garet"/>
                <a:cs typeface="Garet"/>
                <a:sym typeface="Garet"/>
              </a:rPr>
              <a:t>hello</a:t>
            </a:r>
            <a:r>
              <a:rPr lang="en-US" sz="2099" u="none">
                <a:solidFill>
                  <a:srgbClr val="000000"/>
                </a:solidFill>
                <a:latin typeface="Garet"/>
                <a:ea typeface="Garet"/>
                <a:cs typeface="Garet"/>
                <a:sym typeface="Garet"/>
              </a:rPr>
              <a:t>@realestate_neuekatzen.com</a:t>
            </a:r>
          </a:p>
        </p:txBody>
      </p:sp>
      <p:sp>
        <p:nvSpPr>
          <p:cNvPr name="TextBox 8" id="8"/>
          <p:cNvSpPr txBox="true"/>
          <p:nvPr/>
        </p:nvSpPr>
        <p:spPr>
          <a:xfrm rot="0">
            <a:off x="1028700" y="6330711"/>
            <a:ext cx="2149547" cy="339725"/>
          </a:xfrm>
          <a:prstGeom prst="rect">
            <a:avLst/>
          </a:prstGeom>
        </p:spPr>
        <p:txBody>
          <a:bodyPr anchor="t" rtlCol="false" tIns="0" lIns="0" bIns="0" rIns="0">
            <a:spAutoFit/>
          </a:bodyPr>
          <a:lstStyle/>
          <a:p>
            <a:pPr algn="l">
              <a:lnSpc>
                <a:spcPts val="2800"/>
              </a:lnSpc>
            </a:pPr>
            <a:r>
              <a:rPr lang="en-US" sz="2000" b="true">
                <a:solidFill>
                  <a:srgbClr val="000000"/>
                </a:solidFill>
                <a:latin typeface="Garet Bold"/>
                <a:ea typeface="Garet Bold"/>
                <a:cs typeface="Garet Bold"/>
                <a:sym typeface="Garet Bold"/>
              </a:rPr>
              <a:t>Social Media</a:t>
            </a:r>
          </a:p>
        </p:txBody>
      </p:sp>
      <p:sp>
        <p:nvSpPr>
          <p:cNvPr name="TextBox 9" id="9"/>
          <p:cNvSpPr txBox="true"/>
          <p:nvPr/>
        </p:nvSpPr>
        <p:spPr>
          <a:xfrm rot="0">
            <a:off x="3178247" y="6304676"/>
            <a:ext cx="5362304" cy="365760"/>
          </a:xfrm>
          <a:prstGeom prst="rect">
            <a:avLst/>
          </a:prstGeom>
        </p:spPr>
        <p:txBody>
          <a:bodyPr anchor="t" rtlCol="false" tIns="0" lIns="0" bIns="0" rIns="0">
            <a:spAutoFit/>
          </a:bodyPr>
          <a:lstStyle/>
          <a:p>
            <a:pPr algn="just" marL="0" indent="0" lvl="0">
              <a:lnSpc>
                <a:spcPts val="2939"/>
              </a:lnSpc>
              <a:spcBef>
                <a:spcPct val="0"/>
              </a:spcBef>
            </a:pPr>
            <a:r>
              <a:rPr lang="en-US" sz="2099">
                <a:solidFill>
                  <a:srgbClr val="000000"/>
                </a:solidFill>
                <a:latin typeface="Garet"/>
                <a:ea typeface="Garet"/>
                <a:cs typeface="Garet"/>
                <a:sym typeface="Garet"/>
              </a:rPr>
              <a:t>@realestate_neuekatzen</a:t>
            </a:r>
          </a:p>
        </p:txBody>
      </p:sp>
      <p:sp>
        <p:nvSpPr>
          <p:cNvPr name="TextBox 10" id="10"/>
          <p:cNvSpPr txBox="true"/>
          <p:nvPr/>
        </p:nvSpPr>
        <p:spPr>
          <a:xfrm rot="0">
            <a:off x="1028700" y="6923349"/>
            <a:ext cx="2149547" cy="339725"/>
          </a:xfrm>
          <a:prstGeom prst="rect">
            <a:avLst/>
          </a:prstGeom>
        </p:spPr>
        <p:txBody>
          <a:bodyPr anchor="t" rtlCol="false" tIns="0" lIns="0" bIns="0" rIns="0">
            <a:spAutoFit/>
          </a:bodyPr>
          <a:lstStyle/>
          <a:p>
            <a:pPr algn="l">
              <a:lnSpc>
                <a:spcPts val="2800"/>
              </a:lnSpc>
            </a:pPr>
            <a:r>
              <a:rPr lang="en-US" sz="2000" b="true">
                <a:solidFill>
                  <a:srgbClr val="000000"/>
                </a:solidFill>
                <a:latin typeface="Garet Bold"/>
                <a:ea typeface="Garet Bold"/>
                <a:cs typeface="Garet Bold"/>
                <a:sym typeface="Garet Bold"/>
              </a:rPr>
              <a:t>Phone</a:t>
            </a:r>
          </a:p>
        </p:txBody>
      </p:sp>
      <p:sp>
        <p:nvSpPr>
          <p:cNvPr name="TextBox 11" id="11"/>
          <p:cNvSpPr txBox="true"/>
          <p:nvPr/>
        </p:nvSpPr>
        <p:spPr>
          <a:xfrm rot="0">
            <a:off x="3178247" y="6897314"/>
            <a:ext cx="5362304" cy="365760"/>
          </a:xfrm>
          <a:prstGeom prst="rect">
            <a:avLst/>
          </a:prstGeom>
        </p:spPr>
        <p:txBody>
          <a:bodyPr anchor="t" rtlCol="false" tIns="0" lIns="0" bIns="0" rIns="0">
            <a:spAutoFit/>
          </a:bodyPr>
          <a:lstStyle/>
          <a:p>
            <a:pPr algn="just" marL="0" indent="0" lvl="0">
              <a:lnSpc>
                <a:spcPts val="2939"/>
              </a:lnSpc>
              <a:spcBef>
                <a:spcPct val="0"/>
              </a:spcBef>
            </a:pPr>
            <a:r>
              <a:rPr lang="en-US" sz="2099">
                <a:solidFill>
                  <a:srgbClr val="000000"/>
                </a:solidFill>
                <a:latin typeface="Garet"/>
                <a:ea typeface="Garet"/>
                <a:cs typeface="Garet"/>
                <a:sym typeface="Garet"/>
              </a:rPr>
              <a:t>+49 111 11 111</a:t>
            </a:r>
          </a:p>
        </p:txBody>
      </p:sp>
      <p:sp>
        <p:nvSpPr>
          <p:cNvPr name="TextBox 12" id="12"/>
          <p:cNvSpPr txBox="true"/>
          <p:nvPr/>
        </p:nvSpPr>
        <p:spPr>
          <a:xfrm rot="0">
            <a:off x="1028700" y="7515987"/>
            <a:ext cx="2149547" cy="339725"/>
          </a:xfrm>
          <a:prstGeom prst="rect">
            <a:avLst/>
          </a:prstGeom>
        </p:spPr>
        <p:txBody>
          <a:bodyPr anchor="t" rtlCol="false" tIns="0" lIns="0" bIns="0" rIns="0">
            <a:spAutoFit/>
          </a:bodyPr>
          <a:lstStyle/>
          <a:p>
            <a:pPr algn="l">
              <a:lnSpc>
                <a:spcPts val="2800"/>
              </a:lnSpc>
            </a:pPr>
            <a:r>
              <a:rPr lang="en-US" sz="2000" b="true">
                <a:solidFill>
                  <a:srgbClr val="000000"/>
                </a:solidFill>
                <a:latin typeface="Garet Bold"/>
                <a:ea typeface="Garet Bold"/>
                <a:cs typeface="Garet Bold"/>
                <a:sym typeface="Garet Bold"/>
              </a:rPr>
              <a:t>Address</a:t>
            </a:r>
          </a:p>
        </p:txBody>
      </p:sp>
      <p:sp>
        <p:nvSpPr>
          <p:cNvPr name="TextBox 13" id="13"/>
          <p:cNvSpPr txBox="true"/>
          <p:nvPr/>
        </p:nvSpPr>
        <p:spPr>
          <a:xfrm rot="0">
            <a:off x="3178247" y="7489952"/>
            <a:ext cx="6188618" cy="365760"/>
          </a:xfrm>
          <a:prstGeom prst="rect">
            <a:avLst/>
          </a:prstGeom>
        </p:spPr>
        <p:txBody>
          <a:bodyPr anchor="t" rtlCol="false" tIns="0" lIns="0" bIns="0" rIns="0">
            <a:spAutoFit/>
          </a:bodyPr>
          <a:lstStyle/>
          <a:p>
            <a:pPr algn="just" marL="0" indent="0" lvl="0">
              <a:lnSpc>
                <a:spcPts val="2939"/>
              </a:lnSpc>
              <a:spcBef>
                <a:spcPct val="0"/>
              </a:spcBef>
            </a:pPr>
            <a:r>
              <a:rPr lang="en-US" sz="2099">
                <a:solidFill>
                  <a:srgbClr val="000000"/>
                </a:solidFill>
                <a:latin typeface="Garet"/>
                <a:ea typeface="Garet"/>
                <a:cs typeface="Garet"/>
                <a:sym typeface="Garet"/>
              </a:rPr>
              <a:t>Currywurst Weg 1, 52070 Aachen, Germany</a:t>
            </a:r>
          </a:p>
        </p:txBody>
      </p:sp>
      <p:sp>
        <p:nvSpPr>
          <p:cNvPr name="TextBox 14" id="14"/>
          <p:cNvSpPr txBox="true"/>
          <p:nvPr/>
        </p:nvSpPr>
        <p:spPr>
          <a:xfrm rot="0">
            <a:off x="1028700" y="4803775"/>
            <a:ext cx="4764688" cy="339725"/>
          </a:xfrm>
          <a:prstGeom prst="rect">
            <a:avLst/>
          </a:prstGeom>
        </p:spPr>
        <p:txBody>
          <a:bodyPr anchor="t" rtlCol="false" tIns="0" lIns="0" bIns="0" rIns="0">
            <a:spAutoFit/>
          </a:bodyPr>
          <a:lstStyle/>
          <a:p>
            <a:pPr algn="l" marL="0" indent="0" lvl="0">
              <a:lnSpc>
                <a:spcPts val="2800"/>
              </a:lnSpc>
              <a:spcBef>
                <a:spcPct val="0"/>
              </a:spcBef>
            </a:pPr>
            <a:r>
              <a:rPr lang="en-US" b="true" sz="2000" u="none">
                <a:solidFill>
                  <a:srgbClr val="000000"/>
                </a:solidFill>
                <a:latin typeface="Garet Bold"/>
                <a:ea typeface="Garet Bold"/>
                <a:cs typeface="Garet Bold"/>
                <a:sym typeface="Garet Bold"/>
              </a:rPr>
              <a:t>CONTACT ME</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5931" cy="10606763"/>
            <a:chOff x="0" y="0"/>
            <a:chExt cx="5835957" cy="3385150"/>
          </a:xfrm>
        </p:grpSpPr>
        <p:sp>
          <p:nvSpPr>
            <p:cNvPr name="Freeform 3" id="3"/>
            <p:cNvSpPr/>
            <p:nvPr/>
          </p:nvSpPr>
          <p:spPr>
            <a:xfrm flipH="false" flipV="false" rot="0">
              <a:off x="0" y="0"/>
              <a:ext cx="5835957" cy="3283550"/>
            </a:xfrm>
            <a:custGeom>
              <a:avLst/>
              <a:gdLst/>
              <a:ahLst/>
              <a:cxnLst/>
              <a:rect r="r" b="b" t="t" l="l"/>
              <a:pathLst>
                <a:path h="3283550" w="5835957">
                  <a:moveTo>
                    <a:pt x="0" y="0"/>
                  </a:moveTo>
                  <a:lnTo>
                    <a:pt x="5835957" y="0"/>
                  </a:lnTo>
                  <a:lnTo>
                    <a:pt x="5835957" y="3283550"/>
                  </a:lnTo>
                  <a:lnTo>
                    <a:pt x="0" y="3283550"/>
                  </a:lnTo>
                  <a:close/>
                </a:path>
              </a:pathLst>
            </a:custGeom>
            <a:solidFill>
              <a:srgbClr val="FDF9B4"/>
            </a:solidFill>
          </p:spPr>
        </p:sp>
        <p:sp>
          <p:nvSpPr>
            <p:cNvPr name="Freeform 4" id="4"/>
            <p:cNvSpPr/>
            <p:nvPr/>
          </p:nvSpPr>
          <p:spPr>
            <a:xfrm flipH="false" flipV="false" rot="0">
              <a:off x="0" y="0"/>
              <a:ext cx="5835957" cy="3385150"/>
            </a:xfrm>
            <a:custGeom>
              <a:avLst/>
              <a:gdLst/>
              <a:ahLst/>
              <a:cxnLst/>
              <a:rect r="r" b="b" t="t" l="l"/>
              <a:pathLst>
                <a:path h="3385150" w="5835957">
                  <a:moveTo>
                    <a:pt x="0" y="3283550"/>
                  </a:moveTo>
                  <a:lnTo>
                    <a:pt x="5835957" y="3283550"/>
                  </a:lnTo>
                  <a:lnTo>
                    <a:pt x="5708957" y="3385150"/>
                  </a:lnTo>
                  <a:cubicBezTo>
                    <a:pt x="5708957" y="3385150"/>
                    <a:pt x="4718357" y="3308950"/>
                    <a:pt x="4616757" y="3308950"/>
                  </a:cubicBezTo>
                  <a:lnTo>
                    <a:pt x="1219200" y="3308950"/>
                  </a:lnTo>
                  <a:cubicBezTo>
                    <a:pt x="1117600" y="3308950"/>
                    <a:pt x="127000" y="3385150"/>
                    <a:pt x="127000" y="3385150"/>
                  </a:cubicBezTo>
                  <a:lnTo>
                    <a:pt x="0" y="3283550"/>
                  </a:lnTo>
                  <a:lnTo>
                    <a:pt x="0" y="0"/>
                  </a:lnTo>
                  <a:lnTo>
                    <a:pt x="5835957" y="0"/>
                  </a:lnTo>
                  <a:lnTo>
                    <a:pt x="5835957" y="3283550"/>
                  </a:lnTo>
                  <a:lnTo>
                    <a:pt x="12700" y="3283550"/>
                  </a:lnTo>
                  <a:lnTo>
                    <a:pt x="12700" y="3270850"/>
                  </a:lnTo>
                  <a:lnTo>
                    <a:pt x="5823257" y="3270850"/>
                  </a:lnTo>
                  <a:lnTo>
                    <a:pt x="5823257" y="12700"/>
                  </a:lnTo>
                  <a:lnTo>
                    <a:pt x="12700" y="12700"/>
                  </a:lnTo>
                  <a:lnTo>
                    <a:pt x="12700" y="3283550"/>
                  </a:lnTo>
                </a:path>
              </a:pathLst>
            </a:custGeom>
            <a:solidFill>
              <a:srgbClr val="394C60">
                <a:alpha val="784"/>
              </a:srgbClr>
            </a:solidFill>
          </p:spPr>
        </p:sp>
        <p:sp>
          <p:nvSpPr>
            <p:cNvPr name="TextBox 5" id="5"/>
            <p:cNvSpPr txBox="true"/>
            <p:nvPr/>
          </p:nvSpPr>
          <p:spPr>
            <a:xfrm>
              <a:off x="0" y="-57150"/>
              <a:ext cx="5835957" cy="2883500"/>
            </a:xfrm>
            <a:prstGeom prst="rect">
              <a:avLst/>
            </a:prstGeom>
          </p:spPr>
          <p:txBody>
            <a:bodyPr anchor="t" rtlCol="false" tIns="848921" lIns="848921" bIns="848921" rIns="848921"/>
            <a:lstStyle/>
            <a:p>
              <a:pPr algn="l">
                <a:lnSpc>
                  <a:spcPts val="4240"/>
                </a:lnSpc>
              </a:pPr>
              <a:r>
                <a:rPr lang="en-US" sz="3029">
                  <a:solidFill>
                    <a:srgbClr val="000000"/>
                  </a:solidFill>
                  <a:latin typeface="Canva Sans"/>
                  <a:ea typeface="Canva Sans"/>
                  <a:cs typeface="Canva Sans"/>
                  <a:sym typeface="Canva Sans"/>
                </a:rPr>
                <a:t>1) Float numbers in the house rooms: Some variables such as bedrooms were stored as floating-point values, resulting in non-realistic values like 1.7 bedrooms. Since bedrooms must always be whole numbers, these were rounded to the nearest integer to reflect valid real estate listings.</a:t>
              </a:r>
            </a:p>
            <a:p>
              <a:pPr algn="l">
                <a:lnSpc>
                  <a:spcPts val="4240"/>
                </a:lnSpc>
              </a:pPr>
              <a:r>
                <a:rPr lang="en-US" sz="3029">
                  <a:solidFill>
                    <a:srgbClr val="000000"/>
                  </a:solidFill>
                  <a:latin typeface="Canva Sans"/>
                  <a:ea typeface="Canva Sans"/>
                  <a:cs typeface="Canva Sans"/>
                  <a:sym typeface="Canva Sans"/>
                </a:rPr>
                <a:t>2) All three ZIP codes—98106, 98108, and 98168—sit in the cluster of ZIPs representing the best balance of (they are just not visible in the chart): affordability, reasonable distance to the center, sufficient housing supply, stable, practical neighborhoods</a:t>
              </a:r>
            </a:p>
            <a:p>
              <a:pPr algn="l">
                <a:lnSpc>
                  <a:spcPts val="4240"/>
                </a:lnSpc>
              </a:pPr>
              <a:r>
                <a:rPr lang="en-US" sz="3029">
                  <a:solidFill>
                    <a:srgbClr val="000000"/>
                  </a:solidFill>
                  <a:latin typeface="Canva Sans"/>
                  <a:ea typeface="Canva Sans"/>
                  <a:cs typeface="Canva Sans"/>
                  <a:sym typeface="Canva Sans"/>
                </a:rPr>
                <a:t>This is the region of the chart where value buyers shop.</a:t>
              </a:r>
            </a:p>
            <a:p>
              <a:pPr algn="l">
                <a:lnSpc>
                  <a:spcPts val="4240"/>
                </a:lnSpc>
              </a:pPr>
              <a:r>
                <a:rPr lang="en-US" sz="3029">
                  <a:solidFill>
                    <a:srgbClr val="000000"/>
                  </a:solidFill>
                  <a:latin typeface="Canva Sans"/>
                  <a:ea typeface="Canva Sans"/>
                  <a:cs typeface="Canva Sans"/>
                  <a:sym typeface="Canva Sans"/>
                </a:rPr>
                <a:t>3) Price vs Longitude: Longitude increases to the east (less negative) /Longitude decreases to the west (closer to the Puget Sound waterfront).</a:t>
              </a:r>
            </a:p>
            <a:p>
              <a:pPr algn="l">
                <a:lnSpc>
                  <a:spcPts val="4240"/>
                </a:lnSpc>
              </a:pPr>
            </a:p>
            <a:p>
              <a:pPr algn="l">
                <a:lnSpc>
                  <a:spcPts val="4240"/>
                </a:lnSpc>
              </a:pPr>
            </a:p>
            <a:p>
              <a:pPr algn="l">
                <a:lnSpc>
                  <a:spcPts val="4240"/>
                </a:lnSpc>
              </a:pPr>
            </a:p>
            <a:p>
              <a:pPr algn="l">
                <a:lnSpc>
                  <a:spcPts val="424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DAG5RTbDXKQ</dc:identifier>
  <dcterms:modified xsi:type="dcterms:W3CDTF">2011-08-01T06:04:30Z</dcterms:modified>
  <cp:revision>1</cp:revision>
  <dc:title>Beige and Black Minimalist Project Deck Presentation</dc:title>
</cp:coreProperties>
</file>